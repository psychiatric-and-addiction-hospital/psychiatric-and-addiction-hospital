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Default Extension="png" ContentType="image/png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9906000" cy="6858000"/>
  <p:notesSz cx="9906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270" y="0"/>
            <a:ext cx="9909810" cy="199390"/>
          </a:xfrm>
          <a:custGeom>
            <a:avLst/>
            <a:gdLst/>
            <a:ahLst/>
            <a:cxnLst/>
            <a:rect l="l" t="t" r="r" b="b"/>
            <a:pathLst>
              <a:path w="9909810" h="199390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0" y="199390"/>
                </a:lnTo>
                <a:lnTo>
                  <a:pt x="9909810" y="19939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-1270" y="19811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-1270" y="29717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-1270" y="39623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-1270" y="49657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-1270" y="59562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-1270" y="69468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-1270" y="79502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-1270" y="89407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-1270" y="99314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-1270" y="109219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30">
                <a:moveTo>
                  <a:pt x="9909810" y="0"/>
                </a:moveTo>
                <a:lnTo>
                  <a:pt x="0" y="0"/>
                </a:lnTo>
                <a:lnTo>
                  <a:pt x="0" y="100329"/>
                </a:lnTo>
                <a:lnTo>
                  <a:pt x="9909810" y="10032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-1270" y="119252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-1270" y="1291590"/>
            <a:ext cx="9909810" cy="55244"/>
          </a:xfrm>
          <a:custGeom>
            <a:avLst/>
            <a:gdLst/>
            <a:ahLst/>
            <a:cxnLst/>
            <a:rect l="l" t="t" r="r" b="b"/>
            <a:pathLst>
              <a:path w="9909810" h="55244">
                <a:moveTo>
                  <a:pt x="0" y="54671"/>
                </a:moveTo>
                <a:lnTo>
                  <a:pt x="9909810" y="54671"/>
                </a:lnTo>
                <a:lnTo>
                  <a:pt x="9909810" y="0"/>
                </a:lnTo>
                <a:lnTo>
                  <a:pt x="0" y="0"/>
                </a:lnTo>
                <a:lnTo>
                  <a:pt x="0" y="54671"/>
                </a:lnTo>
                <a:close/>
              </a:path>
            </a:pathLst>
          </a:custGeom>
          <a:solidFill>
            <a:srgbClr val="0000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-1270" y="1402018"/>
            <a:ext cx="9909810" cy="89535"/>
          </a:xfrm>
          <a:custGeom>
            <a:avLst/>
            <a:gdLst/>
            <a:ahLst/>
            <a:cxnLst/>
            <a:rect l="l" t="t" r="r" b="b"/>
            <a:pathLst>
              <a:path w="9909810" h="89534">
                <a:moveTo>
                  <a:pt x="0" y="88961"/>
                </a:moveTo>
                <a:lnTo>
                  <a:pt x="9909810" y="88961"/>
                </a:lnTo>
                <a:lnTo>
                  <a:pt x="9909810" y="0"/>
                </a:lnTo>
                <a:lnTo>
                  <a:pt x="0" y="0"/>
                </a:lnTo>
                <a:lnTo>
                  <a:pt x="0" y="88961"/>
                </a:lnTo>
                <a:close/>
              </a:path>
            </a:pathLst>
          </a:custGeom>
          <a:solidFill>
            <a:srgbClr val="0000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-1270" y="149097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-1270" y="159004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-1270" y="168910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-1270" y="178815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30">
                <a:moveTo>
                  <a:pt x="9909810" y="0"/>
                </a:moveTo>
                <a:lnTo>
                  <a:pt x="0" y="0"/>
                </a:lnTo>
                <a:lnTo>
                  <a:pt x="0" y="100329"/>
                </a:lnTo>
                <a:lnTo>
                  <a:pt x="9909810" y="10032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-1270" y="188849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-1270" y="198755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-1270" y="208660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-1270" y="218566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30">
                <a:moveTo>
                  <a:pt x="9909810" y="0"/>
                </a:moveTo>
                <a:lnTo>
                  <a:pt x="0" y="0"/>
                </a:lnTo>
                <a:lnTo>
                  <a:pt x="0" y="100329"/>
                </a:lnTo>
                <a:lnTo>
                  <a:pt x="9909810" y="10032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-1270" y="228600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-1270" y="238505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-1270" y="248411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30">
                <a:moveTo>
                  <a:pt x="9909810" y="0"/>
                </a:moveTo>
                <a:lnTo>
                  <a:pt x="0" y="0"/>
                </a:lnTo>
                <a:lnTo>
                  <a:pt x="0" y="100329"/>
                </a:lnTo>
                <a:lnTo>
                  <a:pt x="9909810" y="10032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-1270" y="2584449"/>
            <a:ext cx="9909810" cy="198120"/>
          </a:xfrm>
          <a:custGeom>
            <a:avLst/>
            <a:gdLst/>
            <a:ahLst/>
            <a:cxnLst/>
            <a:rect l="l" t="t" r="r" b="b"/>
            <a:pathLst>
              <a:path w="9909810" h="198119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0" y="198120"/>
                </a:lnTo>
                <a:lnTo>
                  <a:pt x="9909810" y="19812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-1270" y="278256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-1270" y="288162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30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-1270" y="298195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-1270" y="308101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bg object 46"/>
          <p:cNvSpPr/>
          <p:nvPr/>
        </p:nvSpPr>
        <p:spPr>
          <a:xfrm>
            <a:off x="-1270" y="318007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bg object 47"/>
          <p:cNvSpPr/>
          <p:nvPr/>
        </p:nvSpPr>
        <p:spPr>
          <a:xfrm>
            <a:off x="-1270" y="328040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bg object 48"/>
          <p:cNvSpPr/>
          <p:nvPr/>
        </p:nvSpPr>
        <p:spPr>
          <a:xfrm>
            <a:off x="-1270" y="337947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bg object 49"/>
          <p:cNvSpPr/>
          <p:nvPr/>
        </p:nvSpPr>
        <p:spPr>
          <a:xfrm>
            <a:off x="-1270" y="347852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bg object 50"/>
          <p:cNvSpPr/>
          <p:nvPr/>
        </p:nvSpPr>
        <p:spPr>
          <a:xfrm>
            <a:off x="-1270" y="357758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bg object 51"/>
          <p:cNvSpPr/>
          <p:nvPr/>
        </p:nvSpPr>
        <p:spPr>
          <a:xfrm>
            <a:off x="-1270" y="367792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bg object 52"/>
          <p:cNvSpPr/>
          <p:nvPr/>
        </p:nvSpPr>
        <p:spPr>
          <a:xfrm>
            <a:off x="-1270" y="377697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bg object 53"/>
          <p:cNvSpPr/>
          <p:nvPr/>
        </p:nvSpPr>
        <p:spPr>
          <a:xfrm>
            <a:off x="-1270" y="387603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bg object 54"/>
          <p:cNvSpPr/>
          <p:nvPr/>
        </p:nvSpPr>
        <p:spPr>
          <a:xfrm>
            <a:off x="-1270" y="397637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bg object 55"/>
          <p:cNvSpPr/>
          <p:nvPr/>
        </p:nvSpPr>
        <p:spPr>
          <a:xfrm>
            <a:off x="-1270" y="407542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bg object 56"/>
          <p:cNvSpPr/>
          <p:nvPr/>
        </p:nvSpPr>
        <p:spPr>
          <a:xfrm>
            <a:off x="-1270" y="417448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bg object 57"/>
          <p:cNvSpPr/>
          <p:nvPr/>
        </p:nvSpPr>
        <p:spPr>
          <a:xfrm>
            <a:off x="-1270" y="4273550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bg object 58"/>
          <p:cNvSpPr/>
          <p:nvPr/>
        </p:nvSpPr>
        <p:spPr>
          <a:xfrm>
            <a:off x="-1270" y="437387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bg object 59"/>
          <p:cNvSpPr/>
          <p:nvPr/>
        </p:nvSpPr>
        <p:spPr>
          <a:xfrm>
            <a:off x="-1270" y="447293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bg object 60"/>
          <p:cNvSpPr/>
          <p:nvPr/>
        </p:nvSpPr>
        <p:spPr>
          <a:xfrm>
            <a:off x="-1270" y="4572000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bg object 61"/>
          <p:cNvSpPr/>
          <p:nvPr/>
        </p:nvSpPr>
        <p:spPr>
          <a:xfrm>
            <a:off x="-1270" y="467232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bg object 62"/>
          <p:cNvSpPr/>
          <p:nvPr/>
        </p:nvSpPr>
        <p:spPr>
          <a:xfrm>
            <a:off x="-1270" y="477138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bg object 63"/>
          <p:cNvSpPr/>
          <p:nvPr/>
        </p:nvSpPr>
        <p:spPr>
          <a:xfrm>
            <a:off x="-1270" y="487045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bg object 64"/>
          <p:cNvSpPr/>
          <p:nvPr/>
        </p:nvSpPr>
        <p:spPr>
          <a:xfrm>
            <a:off x="-1270" y="496950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29"/>
                </a:lnTo>
                <a:lnTo>
                  <a:pt x="9909810" y="10032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bg object 65"/>
          <p:cNvSpPr/>
          <p:nvPr/>
        </p:nvSpPr>
        <p:spPr>
          <a:xfrm>
            <a:off x="-1270" y="506983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bg object 66"/>
          <p:cNvSpPr/>
          <p:nvPr/>
        </p:nvSpPr>
        <p:spPr>
          <a:xfrm>
            <a:off x="-1270" y="516890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bg object 67"/>
          <p:cNvSpPr/>
          <p:nvPr/>
        </p:nvSpPr>
        <p:spPr>
          <a:xfrm>
            <a:off x="-1270" y="526795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bg object 68"/>
          <p:cNvSpPr/>
          <p:nvPr/>
        </p:nvSpPr>
        <p:spPr>
          <a:xfrm>
            <a:off x="-1270" y="5367020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29"/>
                </a:lnTo>
                <a:lnTo>
                  <a:pt x="9909810" y="10032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bg object 69"/>
          <p:cNvSpPr/>
          <p:nvPr/>
        </p:nvSpPr>
        <p:spPr>
          <a:xfrm>
            <a:off x="-1270" y="546735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bg object 70"/>
          <p:cNvSpPr/>
          <p:nvPr/>
        </p:nvSpPr>
        <p:spPr>
          <a:xfrm>
            <a:off x="-1270" y="556640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bg object 71"/>
          <p:cNvSpPr/>
          <p:nvPr/>
        </p:nvSpPr>
        <p:spPr>
          <a:xfrm>
            <a:off x="-1270" y="5665470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29"/>
                </a:lnTo>
                <a:lnTo>
                  <a:pt x="9909810" y="10032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bg object 72"/>
          <p:cNvSpPr/>
          <p:nvPr/>
        </p:nvSpPr>
        <p:spPr>
          <a:xfrm>
            <a:off x="-1270" y="576580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bg object 73"/>
          <p:cNvSpPr/>
          <p:nvPr/>
        </p:nvSpPr>
        <p:spPr>
          <a:xfrm>
            <a:off x="-1270" y="586485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bg object 74"/>
          <p:cNvSpPr/>
          <p:nvPr/>
        </p:nvSpPr>
        <p:spPr>
          <a:xfrm>
            <a:off x="-1270" y="596392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bg object 75"/>
          <p:cNvSpPr/>
          <p:nvPr/>
        </p:nvSpPr>
        <p:spPr>
          <a:xfrm>
            <a:off x="-1270" y="606297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bg object 76"/>
          <p:cNvSpPr/>
          <p:nvPr/>
        </p:nvSpPr>
        <p:spPr>
          <a:xfrm>
            <a:off x="-1270" y="616330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bg object 77"/>
          <p:cNvSpPr/>
          <p:nvPr/>
        </p:nvSpPr>
        <p:spPr>
          <a:xfrm>
            <a:off x="-1270" y="626237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bg object 78"/>
          <p:cNvSpPr/>
          <p:nvPr/>
        </p:nvSpPr>
        <p:spPr>
          <a:xfrm>
            <a:off x="-1270" y="636142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bg object 79"/>
          <p:cNvSpPr/>
          <p:nvPr/>
        </p:nvSpPr>
        <p:spPr>
          <a:xfrm>
            <a:off x="-1270" y="646175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bg object 80"/>
          <p:cNvSpPr/>
          <p:nvPr/>
        </p:nvSpPr>
        <p:spPr>
          <a:xfrm>
            <a:off x="-1270" y="656082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bg object 81"/>
          <p:cNvSpPr/>
          <p:nvPr/>
        </p:nvSpPr>
        <p:spPr>
          <a:xfrm>
            <a:off x="-1270" y="665987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bg object 82"/>
          <p:cNvSpPr/>
          <p:nvPr/>
        </p:nvSpPr>
        <p:spPr>
          <a:xfrm>
            <a:off x="-1270" y="675893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29"/>
                </a:lnTo>
                <a:lnTo>
                  <a:pt x="9909810" y="10032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bg object 83"/>
          <p:cNvSpPr/>
          <p:nvPr/>
        </p:nvSpPr>
        <p:spPr>
          <a:xfrm>
            <a:off x="26670" y="1371599"/>
            <a:ext cx="9879330" cy="5080"/>
          </a:xfrm>
          <a:custGeom>
            <a:avLst/>
            <a:gdLst/>
            <a:ahLst/>
            <a:cxnLst/>
            <a:rect l="l" t="t" r="r" b="b"/>
            <a:pathLst>
              <a:path w="9879330" h="5080">
                <a:moveTo>
                  <a:pt x="0" y="0"/>
                </a:moveTo>
                <a:lnTo>
                  <a:pt x="9879330" y="5079"/>
                </a:lnTo>
              </a:path>
            </a:pathLst>
          </a:custGeom>
          <a:ln w="50676">
            <a:solidFill>
              <a:srgbClr val="FB00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bg object 84"/>
          <p:cNvSpPr/>
          <p:nvPr/>
        </p:nvSpPr>
        <p:spPr>
          <a:xfrm>
            <a:off x="0" y="4013261"/>
            <a:ext cx="9906000" cy="50800"/>
          </a:xfrm>
          <a:custGeom>
            <a:avLst/>
            <a:gdLst/>
            <a:ahLst/>
            <a:cxnLst/>
            <a:rect l="l" t="t" r="r" b="b"/>
            <a:pathLst>
              <a:path w="9906000" h="50800">
                <a:moveTo>
                  <a:pt x="0" y="50676"/>
                </a:moveTo>
                <a:lnTo>
                  <a:pt x="9906000" y="50676"/>
                </a:lnTo>
                <a:lnTo>
                  <a:pt x="9906000" y="0"/>
                </a:lnTo>
                <a:lnTo>
                  <a:pt x="0" y="0"/>
                </a:lnTo>
                <a:lnTo>
                  <a:pt x="0" y="50676"/>
                </a:lnTo>
                <a:close/>
              </a:path>
            </a:pathLst>
          </a:custGeom>
          <a:solidFill>
            <a:srgbClr val="FB00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270" y="0"/>
            <a:ext cx="9909810" cy="199390"/>
          </a:xfrm>
          <a:custGeom>
            <a:avLst/>
            <a:gdLst/>
            <a:ahLst/>
            <a:cxnLst/>
            <a:rect l="l" t="t" r="r" b="b"/>
            <a:pathLst>
              <a:path w="9909810" h="199390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0" y="199390"/>
                </a:lnTo>
                <a:lnTo>
                  <a:pt x="9909810" y="19939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-1270" y="19811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-1270" y="29717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-1270" y="39623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-1270" y="49657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-1270" y="59562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-1270" y="69468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-1270" y="79502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-1270" y="89407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-1270" y="99314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-1270" y="109219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30">
                <a:moveTo>
                  <a:pt x="9909810" y="0"/>
                </a:moveTo>
                <a:lnTo>
                  <a:pt x="0" y="0"/>
                </a:lnTo>
                <a:lnTo>
                  <a:pt x="0" y="100329"/>
                </a:lnTo>
                <a:lnTo>
                  <a:pt x="9909810" y="10032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-1270" y="119252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-1270" y="1291590"/>
            <a:ext cx="9909810" cy="55244"/>
          </a:xfrm>
          <a:custGeom>
            <a:avLst/>
            <a:gdLst/>
            <a:ahLst/>
            <a:cxnLst/>
            <a:rect l="l" t="t" r="r" b="b"/>
            <a:pathLst>
              <a:path w="9909810" h="55244">
                <a:moveTo>
                  <a:pt x="0" y="54671"/>
                </a:moveTo>
                <a:lnTo>
                  <a:pt x="9909810" y="54671"/>
                </a:lnTo>
                <a:lnTo>
                  <a:pt x="9909810" y="0"/>
                </a:lnTo>
                <a:lnTo>
                  <a:pt x="0" y="0"/>
                </a:lnTo>
                <a:lnTo>
                  <a:pt x="0" y="54671"/>
                </a:lnTo>
                <a:close/>
              </a:path>
            </a:pathLst>
          </a:custGeom>
          <a:solidFill>
            <a:srgbClr val="0000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-1270" y="1402018"/>
            <a:ext cx="9909810" cy="89535"/>
          </a:xfrm>
          <a:custGeom>
            <a:avLst/>
            <a:gdLst/>
            <a:ahLst/>
            <a:cxnLst/>
            <a:rect l="l" t="t" r="r" b="b"/>
            <a:pathLst>
              <a:path w="9909810" h="89534">
                <a:moveTo>
                  <a:pt x="0" y="88961"/>
                </a:moveTo>
                <a:lnTo>
                  <a:pt x="9909810" y="88961"/>
                </a:lnTo>
                <a:lnTo>
                  <a:pt x="9909810" y="0"/>
                </a:lnTo>
                <a:lnTo>
                  <a:pt x="0" y="0"/>
                </a:lnTo>
                <a:lnTo>
                  <a:pt x="0" y="88961"/>
                </a:lnTo>
                <a:close/>
              </a:path>
            </a:pathLst>
          </a:custGeom>
          <a:solidFill>
            <a:srgbClr val="0000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-1270" y="149097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-1270" y="159004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-1270" y="168910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-1270" y="178815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30">
                <a:moveTo>
                  <a:pt x="9909810" y="0"/>
                </a:moveTo>
                <a:lnTo>
                  <a:pt x="0" y="0"/>
                </a:lnTo>
                <a:lnTo>
                  <a:pt x="0" y="100329"/>
                </a:lnTo>
                <a:lnTo>
                  <a:pt x="9909810" y="10032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-1270" y="188849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-1270" y="198755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-1270" y="208660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-1270" y="218566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30">
                <a:moveTo>
                  <a:pt x="9909810" y="0"/>
                </a:moveTo>
                <a:lnTo>
                  <a:pt x="0" y="0"/>
                </a:lnTo>
                <a:lnTo>
                  <a:pt x="0" y="100329"/>
                </a:lnTo>
                <a:lnTo>
                  <a:pt x="9909810" y="10032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-1270" y="228600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-1270" y="238505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-1270" y="248411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30">
                <a:moveTo>
                  <a:pt x="9909810" y="0"/>
                </a:moveTo>
                <a:lnTo>
                  <a:pt x="0" y="0"/>
                </a:lnTo>
                <a:lnTo>
                  <a:pt x="0" y="100329"/>
                </a:lnTo>
                <a:lnTo>
                  <a:pt x="9909810" y="10032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-1270" y="2584449"/>
            <a:ext cx="9909810" cy="198120"/>
          </a:xfrm>
          <a:custGeom>
            <a:avLst/>
            <a:gdLst/>
            <a:ahLst/>
            <a:cxnLst/>
            <a:rect l="l" t="t" r="r" b="b"/>
            <a:pathLst>
              <a:path w="9909810" h="198119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0" y="198120"/>
                </a:lnTo>
                <a:lnTo>
                  <a:pt x="9909810" y="19812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-1270" y="278256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-1270" y="288162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30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-1270" y="298195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-1270" y="308101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bg object 46"/>
          <p:cNvSpPr/>
          <p:nvPr/>
        </p:nvSpPr>
        <p:spPr>
          <a:xfrm>
            <a:off x="-1270" y="318007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bg object 47"/>
          <p:cNvSpPr/>
          <p:nvPr/>
        </p:nvSpPr>
        <p:spPr>
          <a:xfrm>
            <a:off x="-1270" y="328040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bg object 48"/>
          <p:cNvSpPr/>
          <p:nvPr/>
        </p:nvSpPr>
        <p:spPr>
          <a:xfrm>
            <a:off x="-1270" y="337947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bg object 49"/>
          <p:cNvSpPr/>
          <p:nvPr/>
        </p:nvSpPr>
        <p:spPr>
          <a:xfrm>
            <a:off x="-1270" y="347852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bg object 50"/>
          <p:cNvSpPr/>
          <p:nvPr/>
        </p:nvSpPr>
        <p:spPr>
          <a:xfrm>
            <a:off x="-1270" y="357758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bg object 51"/>
          <p:cNvSpPr/>
          <p:nvPr/>
        </p:nvSpPr>
        <p:spPr>
          <a:xfrm>
            <a:off x="-1270" y="367792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bg object 52"/>
          <p:cNvSpPr/>
          <p:nvPr/>
        </p:nvSpPr>
        <p:spPr>
          <a:xfrm>
            <a:off x="-1270" y="377697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bg object 53"/>
          <p:cNvSpPr/>
          <p:nvPr/>
        </p:nvSpPr>
        <p:spPr>
          <a:xfrm>
            <a:off x="-1270" y="387603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bg object 54"/>
          <p:cNvSpPr/>
          <p:nvPr/>
        </p:nvSpPr>
        <p:spPr>
          <a:xfrm>
            <a:off x="-1270" y="397637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bg object 55"/>
          <p:cNvSpPr/>
          <p:nvPr/>
        </p:nvSpPr>
        <p:spPr>
          <a:xfrm>
            <a:off x="-1270" y="407542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bg object 56"/>
          <p:cNvSpPr/>
          <p:nvPr/>
        </p:nvSpPr>
        <p:spPr>
          <a:xfrm>
            <a:off x="-1270" y="417448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bg object 57"/>
          <p:cNvSpPr/>
          <p:nvPr/>
        </p:nvSpPr>
        <p:spPr>
          <a:xfrm>
            <a:off x="-1270" y="4273550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bg object 58"/>
          <p:cNvSpPr/>
          <p:nvPr/>
        </p:nvSpPr>
        <p:spPr>
          <a:xfrm>
            <a:off x="-1270" y="437387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bg object 59"/>
          <p:cNvSpPr/>
          <p:nvPr/>
        </p:nvSpPr>
        <p:spPr>
          <a:xfrm>
            <a:off x="-1270" y="447293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bg object 60"/>
          <p:cNvSpPr/>
          <p:nvPr/>
        </p:nvSpPr>
        <p:spPr>
          <a:xfrm>
            <a:off x="-1270" y="4572000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bg object 61"/>
          <p:cNvSpPr/>
          <p:nvPr/>
        </p:nvSpPr>
        <p:spPr>
          <a:xfrm>
            <a:off x="-1270" y="467232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bg object 62"/>
          <p:cNvSpPr/>
          <p:nvPr/>
        </p:nvSpPr>
        <p:spPr>
          <a:xfrm>
            <a:off x="-1270" y="477138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bg object 63"/>
          <p:cNvSpPr/>
          <p:nvPr/>
        </p:nvSpPr>
        <p:spPr>
          <a:xfrm>
            <a:off x="-1270" y="487045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bg object 64"/>
          <p:cNvSpPr/>
          <p:nvPr/>
        </p:nvSpPr>
        <p:spPr>
          <a:xfrm>
            <a:off x="-1270" y="496950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29"/>
                </a:lnTo>
                <a:lnTo>
                  <a:pt x="9909810" y="10032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bg object 65"/>
          <p:cNvSpPr/>
          <p:nvPr/>
        </p:nvSpPr>
        <p:spPr>
          <a:xfrm>
            <a:off x="-1270" y="506983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bg object 66"/>
          <p:cNvSpPr/>
          <p:nvPr/>
        </p:nvSpPr>
        <p:spPr>
          <a:xfrm>
            <a:off x="-1270" y="516890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bg object 67"/>
          <p:cNvSpPr/>
          <p:nvPr/>
        </p:nvSpPr>
        <p:spPr>
          <a:xfrm>
            <a:off x="-1270" y="526795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bg object 68"/>
          <p:cNvSpPr/>
          <p:nvPr/>
        </p:nvSpPr>
        <p:spPr>
          <a:xfrm>
            <a:off x="-1270" y="5367020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29"/>
                </a:lnTo>
                <a:lnTo>
                  <a:pt x="9909810" y="10032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bg object 69"/>
          <p:cNvSpPr/>
          <p:nvPr/>
        </p:nvSpPr>
        <p:spPr>
          <a:xfrm>
            <a:off x="-1270" y="546735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bg object 70"/>
          <p:cNvSpPr/>
          <p:nvPr/>
        </p:nvSpPr>
        <p:spPr>
          <a:xfrm>
            <a:off x="-1270" y="556640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bg object 71"/>
          <p:cNvSpPr/>
          <p:nvPr/>
        </p:nvSpPr>
        <p:spPr>
          <a:xfrm>
            <a:off x="-1270" y="5665470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29"/>
                </a:lnTo>
                <a:lnTo>
                  <a:pt x="9909810" y="10032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bg object 72"/>
          <p:cNvSpPr/>
          <p:nvPr/>
        </p:nvSpPr>
        <p:spPr>
          <a:xfrm>
            <a:off x="-1270" y="576580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bg object 73"/>
          <p:cNvSpPr/>
          <p:nvPr/>
        </p:nvSpPr>
        <p:spPr>
          <a:xfrm>
            <a:off x="-1270" y="586485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bg object 74"/>
          <p:cNvSpPr/>
          <p:nvPr/>
        </p:nvSpPr>
        <p:spPr>
          <a:xfrm>
            <a:off x="-1270" y="596392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bg object 75"/>
          <p:cNvSpPr/>
          <p:nvPr/>
        </p:nvSpPr>
        <p:spPr>
          <a:xfrm>
            <a:off x="-1270" y="606297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bg object 76"/>
          <p:cNvSpPr/>
          <p:nvPr/>
        </p:nvSpPr>
        <p:spPr>
          <a:xfrm>
            <a:off x="-1270" y="616330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bg object 77"/>
          <p:cNvSpPr/>
          <p:nvPr/>
        </p:nvSpPr>
        <p:spPr>
          <a:xfrm>
            <a:off x="-1270" y="626237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60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bg object 78"/>
          <p:cNvSpPr/>
          <p:nvPr/>
        </p:nvSpPr>
        <p:spPr>
          <a:xfrm>
            <a:off x="-1270" y="636142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30"/>
                </a:lnTo>
                <a:lnTo>
                  <a:pt x="9909810" y="10033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bg object 79"/>
          <p:cNvSpPr/>
          <p:nvPr/>
        </p:nvSpPr>
        <p:spPr>
          <a:xfrm>
            <a:off x="-1270" y="646175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bg object 80"/>
          <p:cNvSpPr/>
          <p:nvPr/>
        </p:nvSpPr>
        <p:spPr>
          <a:xfrm>
            <a:off x="-1270" y="6560820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59"/>
                </a:lnTo>
                <a:lnTo>
                  <a:pt x="9909810" y="9905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bg object 81"/>
          <p:cNvSpPr/>
          <p:nvPr/>
        </p:nvSpPr>
        <p:spPr>
          <a:xfrm>
            <a:off x="-1270" y="6659879"/>
            <a:ext cx="9909810" cy="99060"/>
          </a:xfrm>
          <a:custGeom>
            <a:avLst/>
            <a:gdLst/>
            <a:ahLst/>
            <a:cxnLst/>
            <a:rect l="l" t="t" r="r" b="b"/>
            <a:pathLst>
              <a:path w="9909810" h="99059">
                <a:moveTo>
                  <a:pt x="9909810" y="0"/>
                </a:moveTo>
                <a:lnTo>
                  <a:pt x="0" y="0"/>
                </a:lnTo>
                <a:lnTo>
                  <a:pt x="0" y="99060"/>
                </a:lnTo>
                <a:lnTo>
                  <a:pt x="9909810" y="99060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bg object 82"/>
          <p:cNvSpPr/>
          <p:nvPr/>
        </p:nvSpPr>
        <p:spPr>
          <a:xfrm>
            <a:off x="-1270" y="6758939"/>
            <a:ext cx="9909810" cy="100330"/>
          </a:xfrm>
          <a:custGeom>
            <a:avLst/>
            <a:gdLst/>
            <a:ahLst/>
            <a:cxnLst/>
            <a:rect l="l" t="t" r="r" b="b"/>
            <a:pathLst>
              <a:path w="9909810" h="100329">
                <a:moveTo>
                  <a:pt x="9909810" y="0"/>
                </a:moveTo>
                <a:lnTo>
                  <a:pt x="0" y="0"/>
                </a:lnTo>
                <a:lnTo>
                  <a:pt x="0" y="100329"/>
                </a:lnTo>
                <a:lnTo>
                  <a:pt x="9909810" y="100329"/>
                </a:lnTo>
                <a:lnTo>
                  <a:pt x="9909810" y="0"/>
                </a:lnTo>
                <a:close/>
              </a:path>
            </a:pathLst>
          </a:custGeom>
          <a:solidFill>
            <a:srgbClr val="0000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bg object 83"/>
          <p:cNvSpPr/>
          <p:nvPr/>
        </p:nvSpPr>
        <p:spPr>
          <a:xfrm>
            <a:off x="26670" y="1371599"/>
            <a:ext cx="9879330" cy="5080"/>
          </a:xfrm>
          <a:custGeom>
            <a:avLst/>
            <a:gdLst/>
            <a:ahLst/>
            <a:cxnLst/>
            <a:rect l="l" t="t" r="r" b="b"/>
            <a:pathLst>
              <a:path w="9879330" h="5080">
                <a:moveTo>
                  <a:pt x="0" y="0"/>
                </a:moveTo>
                <a:lnTo>
                  <a:pt x="9879330" y="5079"/>
                </a:lnTo>
              </a:path>
            </a:pathLst>
          </a:custGeom>
          <a:ln w="50676">
            <a:solidFill>
              <a:srgbClr val="FB00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1069" y="214629"/>
            <a:ext cx="8023860" cy="969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634" y="1676400"/>
            <a:ext cx="8888730" cy="3836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98500" y="6574987"/>
            <a:ext cx="162306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583940" y="6574987"/>
            <a:ext cx="3185795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419947" y="6574987"/>
            <a:ext cx="636904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060" y="1964690"/>
            <a:ext cx="6154420" cy="12014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630"/>
              </a:lnSpc>
              <a:spcBef>
                <a:spcPts val="100"/>
              </a:spcBef>
            </a:pPr>
            <a:r>
              <a:rPr dirty="0" sz="4000"/>
              <a:t>An </a:t>
            </a:r>
            <a:r>
              <a:rPr dirty="0" sz="4000" spc="-5"/>
              <a:t>Introduction </a:t>
            </a:r>
            <a:r>
              <a:rPr dirty="0" sz="4000"/>
              <a:t>to</a:t>
            </a:r>
            <a:r>
              <a:rPr dirty="0" sz="4000" spc="-25"/>
              <a:t> </a:t>
            </a:r>
            <a:r>
              <a:rPr dirty="0" sz="4000" spc="-5"/>
              <a:t>Software</a:t>
            </a:r>
            <a:endParaRPr sz="4000"/>
          </a:p>
          <a:p>
            <a:pPr algn="ctr" marL="487680">
              <a:lnSpc>
                <a:spcPts val="4630"/>
              </a:lnSpc>
            </a:pPr>
            <a:r>
              <a:rPr dirty="0" sz="4000" spc="-5"/>
              <a:t>Engineering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4120" y="547370"/>
            <a:ext cx="239776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/>
              <a:t>Objectives</a:t>
            </a:r>
            <a:endParaRPr sz="40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9070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2672079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5700" y="3553459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1435" rIns="0" bIns="0" rtlCol="0" vert="horz">
            <a:spAutoFit/>
          </a:bodyPr>
          <a:lstStyle/>
          <a:p>
            <a:pPr marL="1148715" marR="5080">
              <a:lnSpc>
                <a:spcPts val="3120"/>
              </a:lnSpc>
              <a:spcBef>
                <a:spcPts val="405"/>
              </a:spcBef>
            </a:pPr>
            <a:r>
              <a:rPr dirty="0" spc="-10"/>
              <a:t>To </a:t>
            </a:r>
            <a:r>
              <a:rPr dirty="0"/>
              <a:t>introduce </a:t>
            </a:r>
            <a:r>
              <a:rPr dirty="0" spc="-5"/>
              <a:t>software </a:t>
            </a:r>
            <a:r>
              <a:rPr dirty="0"/>
              <a:t>engineering and to explain  </a:t>
            </a:r>
            <a:r>
              <a:rPr dirty="0" spc="-5"/>
              <a:t>its</a:t>
            </a:r>
            <a:r>
              <a:rPr dirty="0" spc="5"/>
              <a:t> </a:t>
            </a:r>
            <a:r>
              <a:rPr dirty="0" spc="-5"/>
              <a:t>importance</a:t>
            </a:r>
          </a:p>
          <a:p>
            <a:pPr marL="1148715" marR="439420">
              <a:lnSpc>
                <a:spcPts val="3120"/>
              </a:lnSpc>
              <a:spcBef>
                <a:spcPts val="695"/>
              </a:spcBef>
            </a:pPr>
            <a:r>
              <a:rPr dirty="0" spc="-10"/>
              <a:t>To </a:t>
            </a:r>
            <a:r>
              <a:rPr dirty="0"/>
              <a:t>set out the </a:t>
            </a:r>
            <a:r>
              <a:rPr dirty="0" spc="-5"/>
              <a:t>answers </a:t>
            </a:r>
            <a:r>
              <a:rPr dirty="0"/>
              <a:t>to key questions about  software </a:t>
            </a:r>
            <a:r>
              <a:rPr dirty="0" spc="-5"/>
              <a:t>engineering</a:t>
            </a:r>
          </a:p>
          <a:p>
            <a:pPr marL="1148715" marR="81915">
              <a:lnSpc>
                <a:spcPts val="3120"/>
              </a:lnSpc>
              <a:spcBef>
                <a:spcPts val="705"/>
              </a:spcBef>
            </a:pPr>
            <a:r>
              <a:rPr dirty="0" spc="-10"/>
              <a:t>To </a:t>
            </a:r>
            <a:r>
              <a:rPr dirty="0"/>
              <a:t>introduce ethical and professional issues and  to explain </a:t>
            </a:r>
            <a:r>
              <a:rPr dirty="0" spc="-5"/>
              <a:t>why </a:t>
            </a:r>
            <a:r>
              <a:rPr dirty="0"/>
              <a:t>they </a:t>
            </a:r>
            <a:r>
              <a:rPr dirty="0" spc="-5"/>
              <a:t>are </a:t>
            </a:r>
            <a:r>
              <a:rPr dirty="0"/>
              <a:t>of concern to </a:t>
            </a:r>
            <a:r>
              <a:rPr dirty="0" spc="-5"/>
              <a:t>software  </a:t>
            </a:r>
            <a:r>
              <a:rPr dirty="0"/>
              <a:t>engineers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9450" y="547370"/>
            <a:ext cx="3469004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/>
              <a:t>Topics</a:t>
            </a:r>
            <a:r>
              <a:rPr dirty="0" sz="4000" spc="-55"/>
              <a:t> </a:t>
            </a:r>
            <a:r>
              <a:rPr dirty="0" sz="4000" spc="-5"/>
              <a:t>covered</a:t>
            </a:r>
            <a:endParaRPr sz="4000"/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2760979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324612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4650" y="2588259"/>
            <a:ext cx="5967095" cy="995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700"/>
              </a:lnSpc>
              <a:spcBef>
                <a:spcPts val="100"/>
              </a:spcBef>
            </a:pPr>
            <a:r>
              <a:rPr dirty="0" sz="2800" spc="-10">
                <a:solidFill>
                  <a:srgbClr val="FFFFFF"/>
                </a:solidFill>
                <a:latin typeface="Arial"/>
                <a:cs typeface="Arial"/>
              </a:rPr>
              <a:t>FAQs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about software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engineering 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Professional and ethical</a:t>
            </a:r>
            <a:r>
              <a:rPr dirty="0" sz="28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responsibility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2539" y="547370"/>
            <a:ext cx="482346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/>
              <a:t>Software</a:t>
            </a:r>
            <a:r>
              <a:rPr dirty="0" sz="4000" spc="-50"/>
              <a:t> </a:t>
            </a:r>
            <a:r>
              <a:rPr dirty="0" sz="4000" spc="-5"/>
              <a:t>engineering</a:t>
            </a:r>
            <a:endParaRPr sz="4000"/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9070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259207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5700" y="303784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5700" y="4194809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4650" y="1676400"/>
            <a:ext cx="7707630" cy="356870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 marR="518159">
              <a:lnSpc>
                <a:spcPts val="2810"/>
              </a:lnSpc>
              <a:spcBef>
                <a:spcPts val="650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economies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of ALL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developed nations are  dependent on software.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More and more systems are software</a:t>
            </a:r>
            <a:r>
              <a:rPr dirty="0" sz="28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controlled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ts val="2810"/>
              </a:lnSpc>
              <a:spcBef>
                <a:spcPts val="690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engineering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concerned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theories, 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methods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and tools for professional software  development.</a:t>
            </a:r>
            <a:endParaRPr sz="2800">
              <a:latin typeface="Arial"/>
              <a:cs typeface="Arial"/>
            </a:endParaRPr>
          </a:p>
          <a:p>
            <a:pPr marL="12700" marR="994410">
              <a:lnSpc>
                <a:spcPct val="83500"/>
              </a:lnSpc>
              <a:spcBef>
                <a:spcPts val="695"/>
              </a:spcBef>
            </a:pP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Expenditure on software represents a  significant fraction of </a:t>
            </a:r>
            <a:r>
              <a:rPr dirty="0" sz="2800" spc="-10">
                <a:solidFill>
                  <a:srgbClr val="FFFFFF"/>
                </a:solidFill>
                <a:latin typeface="Arial"/>
                <a:cs typeface="Arial"/>
              </a:rPr>
              <a:t>GNP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all developed 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countries.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4059" y="547370"/>
            <a:ext cx="335851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/>
              <a:t>Software</a:t>
            </a:r>
            <a:r>
              <a:rPr dirty="0" sz="4000" spc="-65"/>
              <a:t> </a:t>
            </a:r>
            <a:r>
              <a:rPr dirty="0" sz="4000"/>
              <a:t>costs</a:t>
            </a:r>
            <a:endParaRPr sz="40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9070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306832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5700" y="4742179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1435" rIns="0" bIns="0" rtlCol="0" vert="horz">
            <a:spAutoFit/>
          </a:bodyPr>
          <a:lstStyle/>
          <a:p>
            <a:pPr marL="1148715" marR="5080">
              <a:lnSpc>
                <a:spcPts val="3120"/>
              </a:lnSpc>
              <a:spcBef>
                <a:spcPts val="405"/>
              </a:spcBef>
            </a:pPr>
            <a:r>
              <a:rPr dirty="0" spc="-5"/>
              <a:t>Software </a:t>
            </a:r>
            <a:r>
              <a:rPr dirty="0"/>
              <a:t>costs often dominate </a:t>
            </a:r>
            <a:r>
              <a:rPr dirty="0" spc="-5"/>
              <a:t>computer </a:t>
            </a:r>
            <a:r>
              <a:rPr dirty="0"/>
              <a:t>system  costs. The costs of software on a PC are often  greater than the </a:t>
            </a:r>
            <a:r>
              <a:rPr dirty="0" spc="-5"/>
              <a:t>hardware</a:t>
            </a:r>
            <a:r>
              <a:rPr dirty="0" spc="5"/>
              <a:t> </a:t>
            </a:r>
            <a:r>
              <a:rPr dirty="0"/>
              <a:t>cost.</a:t>
            </a:r>
          </a:p>
          <a:p>
            <a:pPr marL="1148715" marR="183515">
              <a:lnSpc>
                <a:spcPts val="3120"/>
              </a:lnSpc>
              <a:spcBef>
                <a:spcPts val="700"/>
              </a:spcBef>
            </a:pPr>
            <a:r>
              <a:rPr dirty="0" spc="-5"/>
              <a:t>Software </a:t>
            </a:r>
            <a:r>
              <a:rPr dirty="0"/>
              <a:t>costs </a:t>
            </a:r>
            <a:r>
              <a:rPr dirty="0" spc="-5"/>
              <a:t>more </a:t>
            </a:r>
            <a:r>
              <a:rPr dirty="0"/>
              <a:t>to </a:t>
            </a:r>
            <a:r>
              <a:rPr dirty="0" spc="-5"/>
              <a:t>maintain </a:t>
            </a:r>
            <a:r>
              <a:rPr dirty="0"/>
              <a:t>than it does to  develop. </a:t>
            </a:r>
            <a:r>
              <a:rPr dirty="0" spc="-5"/>
              <a:t>For </a:t>
            </a:r>
            <a:r>
              <a:rPr dirty="0"/>
              <a:t>systems </a:t>
            </a:r>
            <a:r>
              <a:rPr dirty="0" spc="-5"/>
              <a:t>with </a:t>
            </a:r>
            <a:r>
              <a:rPr dirty="0"/>
              <a:t>a long </a:t>
            </a:r>
            <a:r>
              <a:rPr dirty="0" spc="-5"/>
              <a:t>life,  </a:t>
            </a:r>
            <a:r>
              <a:rPr dirty="0"/>
              <a:t>maintenance costs </a:t>
            </a:r>
            <a:r>
              <a:rPr dirty="0" spc="-5"/>
              <a:t>may </a:t>
            </a:r>
            <a:r>
              <a:rPr dirty="0"/>
              <a:t>be several </a:t>
            </a:r>
            <a:r>
              <a:rPr dirty="0" spc="-5"/>
              <a:t>times  </a:t>
            </a:r>
            <a:r>
              <a:rPr dirty="0"/>
              <a:t>development costs.</a:t>
            </a:r>
          </a:p>
          <a:p>
            <a:pPr marL="1148715" marR="519430">
              <a:lnSpc>
                <a:spcPts val="3120"/>
              </a:lnSpc>
              <a:spcBef>
                <a:spcPts val="695"/>
              </a:spcBef>
            </a:pPr>
            <a:r>
              <a:rPr dirty="0" spc="-5"/>
              <a:t>Software </a:t>
            </a:r>
            <a:r>
              <a:rPr dirty="0"/>
              <a:t>engineering </a:t>
            </a:r>
            <a:r>
              <a:rPr dirty="0" spc="-5"/>
              <a:t>is </a:t>
            </a:r>
            <a:r>
              <a:rPr dirty="0"/>
              <a:t>concerned </a:t>
            </a:r>
            <a:r>
              <a:rPr dirty="0" spc="-5"/>
              <a:t>with </a:t>
            </a:r>
            <a:r>
              <a:rPr dirty="0"/>
              <a:t>cost-  effective software development.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9510" y="547370"/>
            <a:ext cx="7588884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/>
              <a:t>FAQs about software</a:t>
            </a:r>
            <a:r>
              <a:rPr dirty="0" sz="4000" spc="-25"/>
              <a:t> </a:t>
            </a:r>
            <a:r>
              <a:rPr dirty="0" sz="4000" spc="-5"/>
              <a:t>engineering</a:t>
            </a:r>
            <a:endParaRPr sz="4000"/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9070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227584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5700" y="2760979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5700" y="3642359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5700" y="452374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5700" y="5008879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44650" y="1617979"/>
            <a:ext cx="6362065" cy="372745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What is</a:t>
            </a:r>
            <a:r>
              <a:rPr dirty="0" sz="280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software?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What is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dirty="0" sz="28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engineering?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ts val="3120"/>
              </a:lnSpc>
              <a:spcBef>
                <a:spcPts val="765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What is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the difference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between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software  engineering and computer</a:t>
            </a: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science?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ts val="3120"/>
              </a:lnSpc>
              <a:spcBef>
                <a:spcPts val="700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What is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the difference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between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software  engineering and system</a:t>
            </a:r>
            <a:r>
              <a:rPr dirty="0" sz="2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engineering?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What is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dirty="0" sz="28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process?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What is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dirty="0" sz="28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model?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9510" y="547370"/>
            <a:ext cx="7588884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/>
              <a:t>FAQs about software</a:t>
            </a:r>
            <a:r>
              <a:rPr dirty="0" sz="4000" spc="-25"/>
              <a:t> </a:t>
            </a:r>
            <a:r>
              <a:rPr dirty="0" sz="4000" spc="-5"/>
              <a:t>engineering</a:t>
            </a:r>
            <a:endParaRPr sz="4000"/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9070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227584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5700" y="2760979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5700" y="3642359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5700" y="412750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4650" y="1617979"/>
            <a:ext cx="7016115" cy="324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2860">
              <a:lnSpc>
                <a:spcPct val="113700"/>
              </a:lnSpc>
              <a:spcBef>
                <a:spcPts val="100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What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are the costs of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software engineering?  What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r>
              <a:rPr dirty="0" sz="280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methods?</a:t>
            </a:r>
            <a:endParaRPr sz="2800">
              <a:latin typeface="Arial"/>
              <a:cs typeface="Arial"/>
            </a:endParaRPr>
          </a:p>
          <a:p>
            <a:pPr marL="12700" marR="433705">
              <a:lnSpc>
                <a:spcPts val="3120"/>
              </a:lnSpc>
              <a:spcBef>
                <a:spcPts val="760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What is </a:t>
            </a:r>
            <a:r>
              <a:rPr dirty="0" sz="2800" spc="-10">
                <a:solidFill>
                  <a:srgbClr val="FFFFFF"/>
                </a:solidFill>
                <a:latin typeface="Arial"/>
                <a:cs typeface="Arial"/>
              </a:rPr>
              <a:t>CASE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(Computer-Aided Software  Engineering)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What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are the attributes of good</a:t>
            </a:r>
            <a:r>
              <a:rPr dirty="0" sz="2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software?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ts val="3130"/>
              </a:lnSpc>
              <a:spcBef>
                <a:spcPts val="745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What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are the key challenges facing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software  engineering?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2270" y="547370"/>
            <a:ext cx="406336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/>
              <a:t>What </a:t>
            </a:r>
            <a:r>
              <a:rPr dirty="0" sz="4000"/>
              <a:t>is</a:t>
            </a:r>
            <a:r>
              <a:rPr dirty="0" sz="4000" spc="-50"/>
              <a:t> </a:t>
            </a:r>
            <a:r>
              <a:rPr dirty="0" sz="4000" spc="-5"/>
              <a:t>software?</a:t>
            </a:r>
            <a:endParaRPr sz="4000"/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8054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2467609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5700" y="3154679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4650" y="1681479"/>
            <a:ext cx="7680959" cy="176530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 marR="5080">
              <a:lnSpc>
                <a:spcPts val="2410"/>
              </a:lnSpc>
              <a:spcBef>
                <a:spcPts val="570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Computer programs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associated documentation such  as requirements, design models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dirty="0" sz="24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manuals.</a:t>
            </a:r>
            <a:endParaRPr sz="2400">
              <a:latin typeface="Arial"/>
              <a:cs typeface="Arial"/>
            </a:endParaRPr>
          </a:p>
          <a:p>
            <a:pPr marL="12700" marR="576580">
              <a:lnSpc>
                <a:spcPts val="2410"/>
              </a:lnSpc>
              <a:spcBef>
                <a:spcPts val="590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Software products may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developed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for a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particular  customer or may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developed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general</a:t>
            </a:r>
            <a:r>
              <a:rPr dirty="0" sz="24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market.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Software products may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 be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5300" y="3435350"/>
            <a:ext cx="7571105" cy="115824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492759" marR="1114425" indent="-480059">
              <a:lnSpc>
                <a:spcPts val="2010"/>
              </a:lnSpc>
              <a:spcBef>
                <a:spcPts val="490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Generic - developed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be sold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 range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of different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customers e.g.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PC software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such as Excel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 Word.</a:t>
            </a:r>
            <a:endParaRPr sz="2000">
              <a:latin typeface="Arial"/>
              <a:cs typeface="Arial"/>
            </a:endParaRPr>
          </a:p>
          <a:p>
            <a:pPr marL="492759" marR="5080" indent="-480059">
              <a:lnSpc>
                <a:spcPts val="2000"/>
              </a:lnSpc>
              <a:spcBef>
                <a:spcPts val="509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Bespoke (custom) - developed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 single customer according 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to their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specification.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5700" y="468249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44650" y="4583429"/>
            <a:ext cx="6853555" cy="100330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 marR="5080">
              <a:lnSpc>
                <a:spcPts val="2410"/>
              </a:lnSpc>
              <a:spcBef>
                <a:spcPts val="570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New software can be created by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developing new 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programs, configuring generic software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systems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or  reusing existing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software.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547370"/>
            <a:ext cx="685609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/>
              <a:t>What </a:t>
            </a:r>
            <a:r>
              <a:rPr dirty="0" sz="4000"/>
              <a:t>is </a:t>
            </a:r>
            <a:r>
              <a:rPr dirty="0" sz="4000" spc="-5"/>
              <a:t>software</a:t>
            </a:r>
            <a:r>
              <a:rPr dirty="0" sz="4000" spc="-35"/>
              <a:t> </a:t>
            </a:r>
            <a:r>
              <a:rPr dirty="0" sz="4000" spc="-5"/>
              <a:t>engineering?</a:t>
            </a:r>
            <a:endParaRPr sz="4000"/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9070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306832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4650" y="1676400"/>
            <a:ext cx="7767955" cy="331470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 marR="5080">
              <a:lnSpc>
                <a:spcPts val="3120"/>
              </a:lnSpc>
              <a:spcBef>
                <a:spcPts val="405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engineering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engineering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discipline  that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concerned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all aspects of software  production.</a:t>
            </a:r>
            <a:endParaRPr sz="2800">
              <a:latin typeface="Arial"/>
              <a:cs typeface="Arial"/>
            </a:endParaRPr>
          </a:p>
          <a:p>
            <a:pPr marL="12700" marR="318135">
              <a:lnSpc>
                <a:spcPts val="3120"/>
              </a:lnSpc>
              <a:spcBef>
                <a:spcPts val="700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engineers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should adopt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 systematic  and organised approach to their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work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and use  appropriate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tools and techniques depending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on  the problem to be solved, the development  constraints and the resources</a:t>
            </a:r>
            <a:r>
              <a:rPr dirty="0" sz="28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available.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975" rIns="0" bIns="0" rtlCol="0" vert="horz">
            <a:spAutoFit/>
          </a:bodyPr>
          <a:lstStyle/>
          <a:p>
            <a:pPr marL="781050" marR="5080" indent="-393700">
              <a:lnSpc>
                <a:spcPts val="3590"/>
              </a:lnSpc>
              <a:spcBef>
                <a:spcPts val="425"/>
              </a:spcBef>
            </a:pPr>
            <a:r>
              <a:rPr dirty="0"/>
              <a:t>What </a:t>
            </a:r>
            <a:r>
              <a:rPr dirty="0" spc="-5"/>
              <a:t>is the </a:t>
            </a:r>
            <a:r>
              <a:rPr dirty="0"/>
              <a:t>difference between software  engineering and computer</a:t>
            </a:r>
            <a:r>
              <a:rPr dirty="0" spc="-30"/>
              <a:t> </a:t>
            </a:r>
            <a:r>
              <a:rPr dirty="0"/>
              <a:t>science?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9070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3464559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4650" y="1676400"/>
            <a:ext cx="7788909" cy="331470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 marR="5080">
              <a:lnSpc>
                <a:spcPts val="3120"/>
              </a:lnSpc>
              <a:spcBef>
                <a:spcPts val="405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Computer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science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concerned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with theory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and  fundamentals;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engineering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concerned 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the practicalities </a:t>
            </a:r>
            <a:r>
              <a:rPr dirty="0" sz="2800" spc="5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developing and  delivering useful software.</a:t>
            </a:r>
            <a:endParaRPr sz="2800">
              <a:latin typeface="Arial"/>
              <a:cs typeface="Arial"/>
            </a:endParaRPr>
          </a:p>
          <a:p>
            <a:pPr marL="12700" marR="123189">
              <a:lnSpc>
                <a:spcPts val="3120"/>
              </a:lnSpc>
              <a:spcBef>
                <a:spcPts val="700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Computer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science theories are still insufficient to  act as a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complete underpinning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for software  engineering (unlike e.g. physics and electrical  engineering).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975" rIns="0" bIns="0" rtlCol="0" vert="horz">
            <a:spAutoFit/>
          </a:bodyPr>
          <a:lstStyle/>
          <a:p>
            <a:pPr marL="610870" marR="5080" indent="-223520">
              <a:lnSpc>
                <a:spcPts val="3590"/>
              </a:lnSpc>
              <a:spcBef>
                <a:spcPts val="425"/>
              </a:spcBef>
            </a:pPr>
            <a:r>
              <a:rPr dirty="0"/>
              <a:t>What </a:t>
            </a:r>
            <a:r>
              <a:rPr dirty="0" spc="-5"/>
              <a:t>is the </a:t>
            </a:r>
            <a:r>
              <a:rPr dirty="0"/>
              <a:t>difference between software  engineering and system</a:t>
            </a:r>
            <a:r>
              <a:rPr dirty="0" spc="-45"/>
              <a:t> </a:t>
            </a:r>
            <a:r>
              <a:rPr dirty="0"/>
              <a:t>engineering?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9070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4373879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4650" y="1676400"/>
            <a:ext cx="7494905" cy="374777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 marR="5080">
              <a:lnSpc>
                <a:spcPct val="83500"/>
              </a:lnSpc>
              <a:spcBef>
                <a:spcPts val="655"/>
              </a:spcBef>
            </a:pP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System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engineering is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concerned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all  aspects of computer-based systems  development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including hardware,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software and  process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engineering. Software engineering is 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part of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this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process concerned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developing  the software infrastructure, control, applications  and databases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8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system.</a:t>
            </a:r>
            <a:endParaRPr sz="2800">
              <a:latin typeface="Arial"/>
              <a:cs typeface="Arial"/>
            </a:endParaRPr>
          </a:p>
          <a:p>
            <a:pPr marL="12700" marR="359410">
              <a:lnSpc>
                <a:spcPct val="83500"/>
              </a:lnSpc>
              <a:spcBef>
                <a:spcPts val="690"/>
              </a:spcBef>
            </a:pP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System engineers are involved in system  specification, architectural design, integration  and deployment.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0060" y="547370"/>
            <a:ext cx="640969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/>
              <a:t>What </a:t>
            </a:r>
            <a:r>
              <a:rPr dirty="0" sz="4000"/>
              <a:t>is a </a:t>
            </a:r>
            <a:r>
              <a:rPr dirty="0" sz="4000" spc="-5"/>
              <a:t>software</a:t>
            </a:r>
            <a:r>
              <a:rPr dirty="0" sz="4000" spc="-50"/>
              <a:t> </a:t>
            </a:r>
            <a:r>
              <a:rPr dirty="0" sz="4000"/>
              <a:t>process?</a:t>
            </a:r>
            <a:endParaRPr sz="40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9070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259207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4650" y="1676400"/>
            <a:ext cx="7690484" cy="125349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650"/>
              </a:spcBef>
            </a:pP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 set </a:t>
            </a:r>
            <a:r>
              <a:rPr dirty="0" sz="2800" spc="5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activities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whose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goal is the development  or evolution of</a:t>
            </a:r>
            <a:r>
              <a:rPr dirty="0" sz="280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software.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Generic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activities in all software processes</a:t>
            </a:r>
            <a:r>
              <a:rPr dirty="0" sz="2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are: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65300" y="2921000"/>
            <a:ext cx="7196455" cy="245237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492759" marR="106680" indent="-480059">
              <a:lnSpc>
                <a:spcPts val="2410"/>
              </a:lnSpc>
              <a:spcBef>
                <a:spcPts val="570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Specification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-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what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the system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should do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its 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development</a:t>
            </a:r>
            <a:r>
              <a:rPr dirty="0" sz="24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constraints</a:t>
            </a:r>
            <a:endParaRPr sz="2400">
              <a:latin typeface="Arial"/>
              <a:cs typeface="Arial"/>
            </a:endParaRPr>
          </a:p>
          <a:p>
            <a:pPr marL="492759" indent="-480059">
              <a:lnSpc>
                <a:spcPct val="100000"/>
              </a:lnSpc>
              <a:spcBef>
                <a:spcPts val="120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Development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-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production of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software system</a:t>
            </a:r>
            <a:endParaRPr sz="2400">
              <a:latin typeface="Arial"/>
              <a:cs typeface="Arial"/>
            </a:endParaRPr>
          </a:p>
          <a:p>
            <a:pPr marL="492759" marR="5080" indent="-480059">
              <a:lnSpc>
                <a:spcPts val="2400"/>
              </a:lnSpc>
              <a:spcBef>
                <a:spcPts val="610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Validation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-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checking that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is what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customer wants</a:t>
            </a:r>
            <a:endParaRPr sz="2400">
              <a:latin typeface="Arial"/>
              <a:cs typeface="Arial"/>
            </a:endParaRPr>
          </a:p>
          <a:p>
            <a:pPr marL="492759" marR="192405" indent="-480059">
              <a:lnSpc>
                <a:spcPts val="2400"/>
              </a:lnSpc>
              <a:spcBef>
                <a:spcPts val="610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Evolution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-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changing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the software in response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to 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changing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demands.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9330" y="547370"/>
            <a:ext cx="793051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/>
              <a:t>What </a:t>
            </a:r>
            <a:r>
              <a:rPr dirty="0" sz="4000"/>
              <a:t>is a </a:t>
            </a:r>
            <a:r>
              <a:rPr dirty="0" sz="4000" spc="-5"/>
              <a:t>software process</a:t>
            </a:r>
            <a:r>
              <a:rPr dirty="0" sz="4000" spc="-15"/>
              <a:t> </a:t>
            </a:r>
            <a:r>
              <a:rPr dirty="0" sz="4000" spc="-5"/>
              <a:t>model?</a:t>
            </a:r>
            <a:endParaRPr sz="4000"/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8054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253619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4650" y="1681479"/>
            <a:ext cx="6682740" cy="114681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 marR="5080">
              <a:lnSpc>
                <a:spcPts val="2680"/>
              </a:lnSpc>
              <a:spcBef>
                <a:spcPts val="355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simplified representation of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software process,  presented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from a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specific perspective.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Examples of process perspectives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 are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65300" y="2804160"/>
            <a:ext cx="5660390" cy="106553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492759" indent="-480059">
              <a:lnSpc>
                <a:spcPct val="100000"/>
              </a:lnSpc>
              <a:spcBef>
                <a:spcPts val="430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Workflow perspective - sequence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activities;</a:t>
            </a:r>
            <a:endParaRPr sz="2000">
              <a:latin typeface="Arial"/>
              <a:cs typeface="Arial"/>
            </a:endParaRPr>
          </a:p>
          <a:p>
            <a:pPr marL="492759" indent="-480059">
              <a:lnSpc>
                <a:spcPct val="100000"/>
              </a:lnSpc>
              <a:spcBef>
                <a:spcPts val="330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Data-flow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perspective -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 flow;</a:t>
            </a:r>
            <a:endParaRPr sz="2000">
              <a:latin typeface="Arial"/>
              <a:cs typeface="Arial"/>
            </a:endParaRPr>
          </a:p>
          <a:p>
            <a:pPr marL="492759" indent="-480059">
              <a:lnSpc>
                <a:spcPct val="100000"/>
              </a:lnSpc>
              <a:spcBef>
                <a:spcPts val="330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Role/action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perspective - who does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what.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5700" y="3991609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4650" y="3892550"/>
            <a:ext cx="33108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Generic process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65300" y="4259579"/>
            <a:ext cx="5107940" cy="106553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492759" indent="-480059">
              <a:lnSpc>
                <a:spcPct val="100000"/>
              </a:lnSpc>
              <a:spcBef>
                <a:spcPts val="430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Waterfall;</a:t>
            </a:r>
            <a:endParaRPr sz="2000">
              <a:latin typeface="Arial"/>
              <a:cs typeface="Arial"/>
            </a:endParaRPr>
          </a:p>
          <a:p>
            <a:pPr marL="492759" indent="-480059">
              <a:lnSpc>
                <a:spcPct val="100000"/>
              </a:lnSpc>
              <a:spcBef>
                <a:spcPts val="330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Iterative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development;</a:t>
            </a:r>
            <a:endParaRPr sz="2000">
              <a:latin typeface="Arial"/>
              <a:cs typeface="Arial"/>
            </a:endParaRPr>
          </a:p>
          <a:p>
            <a:pPr marL="492759" indent="-480059">
              <a:lnSpc>
                <a:spcPct val="100000"/>
              </a:lnSpc>
              <a:spcBef>
                <a:spcPts val="330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Component-based software</a:t>
            </a:r>
            <a:r>
              <a:rPr dirty="0" sz="20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engineering.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0" y="670559"/>
            <a:ext cx="799782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are the costs </a:t>
            </a:r>
            <a:r>
              <a:rPr dirty="0" spc="-5"/>
              <a:t>of </a:t>
            </a: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9070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306832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5700" y="4742179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1435" rIns="0" bIns="0" rtlCol="0" vert="horz">
            <a:spAutoFit/>
          </a:bodyPr>
          <a:lstStyle/>
          <a:p>
            <a:pPr marL="1148715" marR="42545">
              <a:lnSpc>
                <a:spcPts val="3120"/>
              </a:lnSpc>
              <a:spcBef>
                <a:spcPts val="405"/>
              </a:spcBef>
            </a:pPr>
            <a:r>
              <a:rPr dirty="0" spc="-5"/>
              <a:t>Roughly </a:t>
            </a:r>
            <a:r>
              <a:rPr dirty="0"/>
              <a:t>60% of costs are </a:t>
            </a:r>
            <a:r>
              <a:rPr dirty="0" spc="-5"/>
              <a:t>development </a:t>
            </a:r>
            <a:r>
              <a:rPr dirty="0"/>
              <a:t>costs,  40% are testing costs. </a:t>
            </a:r>
            <a:r>
              <a:rPr dirty="0" spc="-5"/>
              <a:t>For </a:t>
            </a:r>
            <a:r>
              <a:rPr dirty="0"/>
              <a:t>custom </a:t>
            </a:r>
            <a:r>
              <a:rPr dirty="0" spc="-5"/>
              <a:t>software,  </a:t>
            </a:r>
            <a:r>
              <a:rPr dirty="0"/>
              <a:t>evolution costs often exceed development</a:t>
            </a:r>
            <a:r>
              <a:rPr dirty="0" spc="-50"/>
              <a:t> </a:t>
            </a:r>
            <a:r>
              <a:rPr dirty="0"/>
              <a:t>costs.</a:t>
            </a:r>
          </a:p>
          <a:p>
            <a:pPr marL="1148715" marR="5080">
              <a:lnSpc>
                <a:spcPts val="3120"/>
              </a:lnSpc>
              <a:spcBef>
                <a:spcPts val="700"/>
              </a:spcBef>
            </a:pPr>
            <a:r>
              <a:rPr dirty="0"/>
              <a:t>Costs vary </a:t>
            </a:r>
            <a:r>
              <a:rPr dirty="0" spc="-5"/>
              <a:t>depending </a:t>
            </a:r>
            <a:r>
              <a:rPr dirty="0"/>
              <a:t>on the type of system  </a:t>
            </a:r>
            <a:r>
              <a:rPr dirty="0" spc="-5"/>
              <a:t>being developed </a:t>
            </a:r>
            <a:r>
              <a:rPr dirty="0"/>
              <a:t>and the requirements of system  attributes such as </a:t>
            </a:r>
            <a:r>
              <a:rPr dirty="0" spc="-5"/>
              <a:t>performance </a:t>
            </a:r>
            <a:r>
              <a:rPr dirty="0"/>
              <a:t>and system  reliability.</a:t>
            </a:r>
          </a:p>
          <a:p>
            <a:pPr marL="1148715" marR="2045335">
              <a:lnSpc>
                <a:spcPts val="3120"/>
              </a:lnSpc>
              <a:spcBef>
                <a:spcPts val="695"/>
              </a:spcBef>
            </a:pPr>
            <a:r>
              <a:rPr dirty="0" spc="-5"/>
              <a:t>Distribution </a:t>
            </a:r>
            <a:r>
              <a:rPr dirty="0"/>
              <a:t>of costs depends </a:t>
            </a:r>
            <a:r>
              <a:rPr dirty="0" spc="-5"/>
              <a:t>on </a:t>
            </a:r>
            <a:r>
              <a:rPr dirty="0"/>
              <a:t>the  development </a:t>
            </a:r>
            <a:r>
              <a:rPr dirty="0" spc="-5"/>
              <a:t>model </a:t>
            </a:r>
            <a:r>
              <a:rPr dirty="0"/>
              <a:t>that </a:t>
            </a:r>
            <a:r>
              <a:rPr dirty="0" spc="-5"/>
              <a:t>is</a:t>
            </a:r>
            <a:r>
              <a:rPr dirty="0" spc="-10"/>
              <a:t> </a:t>
            </a:r>
            <a:r>
              <a:rPr dirty="0"/>
              <a:t>used.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270" y="0"/>
            <a:ext cx="9909810" cy="1348105"/>
            <a:chOff x="-1270" y="0"/>
            <a:chExt cx="9909810" cy="1348105"/>
          </a:xfrm>
        </p:grpSpPr>
        <p:sp>
          <p:nvSpPr>
            <p:cNvPr id="3" name="object 3"/>
            <p:cNvSpPr/>
            <p:nvPr/>
          </p:nvSpPr>
          <p:spPr>
            <a:xfrm>
              <a:off x="-1270" y="0"/>
              <a:ext cx="9909810" cy="199390"/>
            </a:xfrm>
            <a:custGeom>
              <a:avLst/>
              <a:gdLst/>
              <a:ahLst/>
              <a:cxnLst/>
              <a:rect l="l" t="t" r="r" b="b"/>
              <a:pathLst>
                <a:path w="9909810" h="199390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0" y="199390"/>
                  </a:lnTo>
                  <a:lnTo>
                    <a:pt x="9909810" y="19939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-1270" y="19811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-1270" y="2971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-1270" y="39623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-1270" y="49657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-1270" y="5956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-1270" y="69468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-1270" y="79502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-1270" y="8940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-1270" y="99314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-1270" y="109219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-1270" y="11925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-1270" y="1291590"/>
              <a:ext cx="9909810" cy="55244"/>
            </a:xfrm>
            <a:custGeom>
              <a:avLst/>
              <a:gdLst/>
              <a:ahLst/>
              <a:cxnLst/>
              <a:rect l="l" t="t" r="r" b="b"/>
              <a:pathLst>
                <a:path w="9909810" h="55244">
                  <a:moveTo>
                    <a:pt x="0" y="54671"/>
                  </a:moveTo>
                  <a:lnTo>
                    <a:pt x="9909810" y="54671"/>
                  </a:lnTo>
                  <a:lnTo>
                    <a:pt x="9909810" y="0"/>
                  </a:lnTo>
                  <a:lnTo>
                    <a:pt x="0" y="0"/>
                  </a:lnTo>
                  <a:lnTo>
                    <a:pt x="0" y="54671"/>
                  </a:lnTo>
                  <a:close/>
                </a:path>
              </a:pathLst>
            </a:custGeom>
            <a:solidFill>
              <a:srgbClr val="00007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-1270" y="1402018"/>
            <a:ext cx="9909810" cy="2872105"/>
            <a:chOff x="-1270" y="1402018"/>
            <a:chExt cx="9909810" cy="2872105"/>
          </a:xfrm>
        </p:grpSpPr>
        <p:sp>
          <p:nvSpPr>
            <p:cNvPr id="17" name="object 17"/>
            <p:cNvSpPr/>
            <p:nvPr/>
          </p:nvSpPr>
          <p:spPr>
            <a:xfrm>
              <a:off x="-1270" y="1402018"/>
              <a:ext cx="9909810" cy="89535"/>
            </a:xfrm>
            <a:custGeom>
              <a:avLst/>
              <a:gdLst/>
              <a:ahLst/>
              <a:cxnLst/>
              <a:rect l="l" t="t" r="r" b="b"/>
              <a:pathLst>
                <a:path w="9909810" h="89534">
                  <a:moveTo>
                    <a:pt x="0" y="88961"/>
                  </a:moveTo>
                  <a:lnTo>
                    <a:pt x="9909810" y="88961"/>
                  </a:lnTo>
                  <a:lnTo>
                    <a:pt x="9909810" y="0"/>
                  </a:lnTo>
                  <a:lnTo>
                    <a:pt x="0" y="0"/>
                  </a:lnTo>
                  <a:lnTo>
                    <a:pt x="0" y="88961"/>
                  </a:lnTo>
                  <a:close/>
                </a:path>
              </a:pathLst>
            </a:custGeom>
            <a:solidFill>
              <a:srgbClr val="0000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-1270" y="14909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3302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-1270" y="159003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9824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982470" y="99060"/>
                  </a:lnTo>
                  <a:lnTo>
                    <a:pt x="19824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8230870" y="0"/>
                  </a:lnTo>
                  <a:lnTo>
                    <a:pt x="823087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-1270" y="168909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9824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982470" y="99060"/>
                  </a:lnTo>
                  <a:lnTo>
                    <a:pt x="19824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8230870" y="0"/>
                  </a:lnTo>
                  <a:lnTo>
                    <a:pt x="823087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-1270" y="178815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198247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1982470" y="100330"/>
                  </a:lnTo>
                  <a:lnTo>
                    <a:pt x="1982470" y="0"/>
                  </a:lnTo>
                  <a:close/>
                </a:path>
                <a:path w="9909810" h="100330">
                  <a:moveTo>
                    <a:pt x="9909810" y="0"/>
                  </a:moveTo>
                  <a:lnTo>
                    <a:pt x="8230870" y="0"/>
                  </a:lnTo>
                  <a:lnTo>
                    <a:pt x="823087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-1270" y="188848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9824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982470" y="99060"/>
                  </a:lnTo>
                  <a:lnTo>
                    <a:pt x="19824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8230870" y="0"/>
                  </a:lnTo>
                  <a:lnTo>
                    <a:pt x="823087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-1270" y="198754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9824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982470" y="99060"/>
                  </a:lnTo>
                  <a:lnTo>
                    <a:pt x="19824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8230870" y="0"/>
                  </a:lnTo>
                  <a:lnTo>
                    <a:pt x="823087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-1270" y="208660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9824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982470" y="99060"/>
                  </a:lnTo>
                  <a:lnTo>
                    <a:pt x="19824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8230870" y="0"/>
                  </a:lnTo>
                  <a:lnTo>
                    <a:pt x="823087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-1270" y="218566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198247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1982470" y="100330"/>
                  </a:lnTo>
                  <a:lnTo>
                    <a:pt x="1982470" y="0"/>
                  </a:lnTo>
                  <a:close/>
                </a:path>
                <a:path w="9909810" h="100330">
                  <a:moveTo>
                    <a:pt x="9909810" y="0"/>
                  </a:moveTo>
                  <a:lnTo>
                    <a:pt x="8230870" y="0"/>
                  </a:lnTo>
                  <a:lnTo>
                    <a:pt x="823087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-1270" y="228599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9824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982470" y="99060"/>
                  </a:lnTo>
                  <a:lnTo>
                    <a:pt x="19824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8230870" y="0"/>
                  </a:lnTo>
                  <a:lnTo>
                    <a:pt x="823087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-1270" y="238505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9824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982470" y="99060"/>
                  </a:lnTo>
                  <a:lnTo>
                    <a:pt x="19824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8230870" y="0"/>
                  </a:lnTo>
                  <a:lnTo>
                    <a:pt x="823087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-1270" y="248411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198247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1982470" y="100330"/>
                  </a:lnTo>
                  <a:lnTo>
                    <a:pt x="1982470" y="0"/>
                  </a:lnTo>
                  <a:close/>
                </a:path>
                <a:path w="9909810" h="100330">
                  <a:moveTo>
                    <a:pt x="9909810" y="0"/>
                  </a:moveTo>
                  <a:lnTo>
                    <a:pt x="8230870" y="0"/>
                  </a:lnTo>
                  <a:lnTo>
                    <a:pt x="823087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-1270" y="2584449"/>
              <a:ext cx="9909810" cy="198120"/>
            </a:xfrm>
            <a:custGeom>
              <a:avLst/>
              <a:gdLst/>
              <a:ahLst/>
              <a:cxnLst/>
              <a:rect l="l" t="t" r="r" b="b"/>
              <a:pathLst>
                <a:path w="9909810" h="198119">
                  <a:moveTo>
                    <a:pt x="19824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0" y="198120"/>
                  </a:lnTo>
                  <a:lnTo>
                    <a:pt x="1982470" y="198120"/>
                  </a:lnTo>
                  <a:lnTo>
                    <a:pt x="1982470" y="99060"/>
                  </a:lnTo>
                  <a:lnTo>
                    <a:pt x="1982470" y="0"/>
                  </a:lnTo>
                  <a:close/>
                </a:path>
                <a:path w="9909810" h="198119">
                  <a:moveTo>
                    <a:pt x="9909810" y="0"/>
                  </a:moveTo>
                  <a:lnTo>
                    <a:pt x="8230870" y="0"/>
                  </a:lnTo>
                  <a:lnTo>
                    <a:pt x="8230870" y="99060"/>
                  </a:lnTo>
                  <a:lnTo>
                    <a:pt x="8230870" y="198120"/>
                  </a:lnTo>
                  <a:lnTo>
                    <a:pt x="9909810" y="19812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-1270" y="278256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9824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982470" y="99060"/>
                  </a:lnTo>
                  <a:lnTo>
                    <a:pt x="19824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8230870" y="0"/>
                  </a:lnTo>
                  <a:lnTo>
                    <a:pt x="823087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-1270" y="288162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198247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1982470" y="100330"/>
                  </a:lnTo>
                  <a:lnTo>
                    <a:pt x="1982470" y="0"/>
                  </a:lnTo>
                  <a:close/>
                </a:path>
                <a:path w="9909810" h="100330">
                  <a:moveTo>
                    <a:pt x="9909810" y="0"/>
                  </a:moveTo>
                  <a:lnTo>
                    <a:pt x="8230870" y="0"/>
                  </a:lnTo>
                  <a:lnTo>
                    <a:pt x="823087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-1270" y="298195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9824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982470" y="99060"/>
                  </a:lnTo>
                  <a:lnTo>
                    <a:pt x="19824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8230870" y="0"/>
                  </a:lnTo>
                  <a:lnTo>
                    <a:pt x="823087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-1270" y="308101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9824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982470" y="99060"/>
                  </a:lnTo>
                  <a:lnTo>
                    <a:pt x="19824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8230870" y="0"/>
                  </a:lnTo>
                  <a:lnTo>
                    <a:pt x="823087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-1270" y="318007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198247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1982470" y="100330"/>
                  </a:lnTo>
                  <a:lnTo>
                    <a:pt x="1982470" y="0"/>
                  </a:lnTo>
                  <a:close/>
                </a:path>
                <a:path w="9909810" h="100329">
                  <a:moveTo>
                    <a:pt x="9909810" y="0"/>
                  </a:moveTo>
                  <a:lnTo>
                    <a:pt x="8230870" y="0"/>
                  </a:lnTo>
                  <a:lnTo>
                    <a:pt x="823087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-1270" y="328040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9824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982470" y="99060"/>
                  </a:lnTo>
                  <a:lnTo>
                    <a:pt x="19824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8230870" y="0"/>
                  </a:lnTo>
                  <a:lnTo>
                    <a:pt x="823087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-1270" y="337946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9824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982470" y="99060"/>
                  </a:lnTo>
                  <a:lnTo>
                    <a:pt x="19824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8230870" y="0"/>
                  </a:lnTo>
                  <a:lnTo>
                    <a:pt x="823087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-1270" y="34785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9824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982470" y="99060"/>
                  </a:lnTo>
                  <a:lnTo>
                    <a:pt x="19824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8230870" y="0"/>
                  </a:lnTo>
                  <a:lnTo>
                    <a:pt x="823087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-1270" y="357758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198247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1982470" y="100330"/>
                  </a:lnTo>
                  <a:lnTo>
                    <a:pt x="1982470" y="0"/>
                  </a:lnTo>
                  <a:close/>
                </a:path>
                <a:path w="9909810" h="100329">
                  <a:moveTo>
                    <a:pt x="9909810" y="0"/>
                  </a:moveTo>
                  <a:lnTo>
                    <a:pt x="8230870" y="0"/>
                  </a:lnTo>
                  <a:lnTo>
                    <a:pt x="823087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-1270" y="367791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9824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982470" y="99060"/>
                  </a:lnTo>
                  <a:lnTo>
                    <a:pt x="19824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8230870" y="0"/>
                  </a:lnTo>
                  <a:lnTo>
                    <a:pt x="823087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-1270" y="37769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9824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982470" y="99060"/>
                  </a:lnTo>
                  <a:lnTo>
                    <a:pt x="19824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8230870" y="0"/>
                  </a:lnTo>
                  <a:lnTo>
                    <a:pt x="823087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-1270" y="387603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198247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1982470" y="100330"/>
                  </a:lnTo>
                  <a:lnTo>
                    <a:pt x="1982470" y="0"/>
                  </a:lnTo>
                  <a:close/>
                </a:path>
                <a:path w="9909810" h="100329">
                  <a:moveTo>
                    <a:pt x="9909810" y="0"/>
                  </a:moveTo>
                  <a:lnTo>
                    <a:pt x="8230870" y="0"/>
                  </a:lnTo>
                  <a:lnTo>
                    <a:pt x="823087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-1270" y="397636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9824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982470" y="99060"/>
                  </a:lnTo>
                  <a:lnTo>
                    <a:pt x="19824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8230870" y="0"/>
                  </a:lnTo>
                  <a:lnTo>
                    <a:pt x="823087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-1270" y="40754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9824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982470" y="99060"/>
                  </a:lnTo>
                  <a:lnTo>
                    <a:pt x="19824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8230870" y="0"/>
                  </a:lnTo>
                  <a:lnTo>
                    <a:pt x="823087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-1270" y="4174489"/>
              <a:ext cx="1982470" cy="99060"/>
            </a:xfrm>
            <a:custGeom>
              <a:avLst/>
              <a:gdLst/>
              <a:ahLst/>
              <a:cxnLst/>
              <a:rect l="l" t="t" r="r" b="b"/>
              <a:pathLst>
                <a:path w="1982470" h="99060">
                  <a:moveTo>
                    <a:pt x="0" y="99060"/>
                  </a:moveTo>
                  <a:lnTo>
                    <a:pt x="1982470" y="99060"/>
                  </a:lnTo>
                  <a:lnTo>
                    <a:pt x="1982470" y="0"/>
                  </a:lnTo>
                  <a:lnTo>
                    <a:pt x="0" y="0"/>
                  </a:lnTo>
                  <a:lnTo>
                    <a:pt x="0" y="99060"/>
                  </a:lnTo>
                  <a:close/>
                </a:path>
              </a:pathLst>
            </a:custGeom>
            <a:solidFill>
              <a:srgbClr val="00005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/>
          <p:nvPr/>
        </p:nvSpPr>
        <p:spPr>
          <a:xfrm>
            <a:off x="8229600" y="4174490"/>
            <a:ext cx="1678939" cy="99060"/>
          </a:xfrm>
          <a:custGeom>
            <a:avLst/>
            <a:gdLst/>
            <a:ahLst/>
            <a:cxnLst/>
            <a:rect l="l" t="t" r="r" b="b"/>
            <a:pathLst>
              <a:path w="1678940" h="99060">
                <a:moveTo>
                  <a:pt x="0" y="99060"/>
                </a:moveTo>
                <a:lnTo>
                  <a:pt x="1678940" y="99060"/>
                </a:lnTo>
                <a:lnTo>
                  <a:pt x="1678940" y="0"/>
                </a:lnTo>
                <a:lnTo>
                  <a:pt x="0" y="0"/>
                </a:lnTo>
                <a:lnTo>
                  <a:pt x="0" y="99060"/>
                </a:lnTo>
                <a:close/>
              </a:path>
            </a:pathLst>
          </a:custGeom>
          <a:solidFill>
            <a:srgbClr val="00005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-1270" y="4273550"/>
            <a:ext cx="1982470" cy="100330"/>
          </a:xfrm>
          <a:custGeom>
            <a:avLst/>
            <a:gdLst/>
            <a:ahLst/>
            <a:cxnLst/>
            <a:rect l="l" t="t" r="r" b="b"/>
            <a:pathLst>
              <a:path w="1982470" h="100329">
                <a:moveTo>
                  <a:pt x="0" y="100330"/>
                </a:moveTo>
                <a:lnTo>
                  <a:pt x="1982470" y="100330"/>
                </a:lnTo>
                <a:lnTo>
                  <a:pt x="1982470" y="0"/>
                </a:lnTo>
                <a:lnTo>
                  <a:pt x="0" y="0"/>
                </a:lnTo>
                <a:lnTo>
                  <a:pt x="0" y="100330"/>
                </a:lnTo>
                <a:close/>
              </a:path>
            </a:pathLst>
          </a:custGeom>
          <a:solidFill>
            <a:srgbClr val="0000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229600" y="4273550"/>
            <a:ext cx="1678939" cy="100330"/>
          </a:xfrm>
          <a:custGeom>
            <a:avLst/>
            <a:gdLst/>
            <a:ahLst/>
            <a:cxnLst/>
            <a:rect l="l" t="t" r="r" b="b"/>
            <a:pathLst>
              <a:path w="1678940" h="100329">
                <a:moveTo>
                  <a:pt x="0" y="100330"/>
                </a:moveTo>
                <a:lnTo>
                  <a:pt x="1678940" y="100330"/>
                </a:lnTo>
                <a:lnTo>
                  <a:pt x="1678940" y="0"/>
                </a:lnTo>
                <a:lnTo>
                  <a:pt x="0" y="0"/>
                </a:lnTo>
                <a:lnTo>
                  <a:pt x="0" y="100330"/>
                </a:lnTo>
                <a:close/>
              </a:path>
            </a:pathLst>
          </a:custGeom>
          <a:solidFill>
            <a:srgbClr val="0000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-1270" y="4373879"/>
            <a:ext cx="1982470" cy="99060"/>
          </a:xfrm>
          <a:custGeom>
            <a:avLst/>
            <a:gdLst/>
            <a:ahLst/>
            <a:cxnLst/>
            <a:rect l="l" t="t" r="r" b="b"/>
            <a:pathLst>
              <a:path w="1982470" h="99060">
                <a:moveTo>
                  <a:pt x="0" y="99060"/>
                </a:moveTo>
                <a:lnTo>
                  <a:pt x="1982470" y="99060"/>
                </a:lnTo>
                <a:lnTo>
                  <a:pt x="1982470" y="0"/>
                </a:lnTo>
                <a:lnTo>
                  <a:pt x="0" y="0"/>
                </a:lnTo>
                <a:lnTo>
                  <a:pt x="0" y="99060"/>
                </a:lnTo>
                <a:close/>
              </a:path>
            </a:pathLst>
          </a:custGeom>
          <a:solidFill>
            <a:srgbClr val="0000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229600" y="4373879"/>
            <a:ext cx="1678939" cy="99060"/>
          </a:xfrm>
          <a:custGeom>
            <a:avLst/>
            <a:gdLst/>
            <a:ahLst/>
            <a:cxnLst/>
            <a:rect l="l" t="t" r="r" b="b"/>
            <a:pathLst>
              <a:path w="1678940" h="99060">
                <a:moveTo>
                  <a:pt x="0" y="99060"/>
                </a:moveTo>
                <a:lnTo>
                  <a:pt x="1678940" y="99060"/>
                </a:lnTo>
                <a:lnTo>
                  <a:pt x="1678940" y="0"/>
                </a:lnTo>
                <a:lnTo>
                  <a:pt x="0" y="0"/>
                </a:lnTo>
                <a:lnTo>
                  <a:pt x="0" y="99060"/>
                </a:lnTo>
                <a:close/>
              </a:path>
            </a:pathLst>
          </a:custGeom>
          <a:solidFill>
            <a:srgbClr val="0000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-1270" y="4472940"/>
            <a:ext cx="1982470" cy="99060"/>
          </a:xfrm>
          <a:custGeom>
            <a:avLst/>
            <a:gdLst/>
            <a:ahLst/>
            <a:cxnLst/>
            <a:rect l="l" t="t" r="r" b="b"/>
            <a:pathLst>
              <a:path w="1982470" h="99060">
                <a:moveTo>
                  <a:pt x="0" y="99060"/>
                </a:moveTo>
                <a:lnTo>
                  <a:pt x="1982470" y="99060"/>
                </a:lnTo>
                <a:lnTo>
                  <a:pt x="1982470" y="0"/>
                </a:lnTo>
                <a:lnTo>
                  <a:pt x="0" y="0"/>
                </a:lnTo>
                <a:lnTo>
                  <a:pt x="0" y="99060"/>
                </a:lnTo>
                <a:close/>
              </a:path>
            </a:pathLst>
          </a:custGeom>
          <a:solidFill>
            <a:srgbClr val="0000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229600" y="4472940"/>
            <a:ext cx="1678939" cy="99060"/>
          </a:xfrm>
          <a:custGeom>
            <a:avLst/>
            <a:gdLst/>
            <a:ahLst/>
            <a:cxnLst/>
            <a:rect l="l" t="t" r="r" b="b"/>
            <a:pathLst>
              <a:path w="1678940" h="99060">
                <a:moveTo>
                  <a:pt x="0" y="99060"/>
                </a:moveTo>
                <a:lnTo>
                  <a:pt x="1678940" y="99060"/>
                </a:lnTo>
                <a:lnTo>
                  <a:pt x="1678940" y="0"/>
                </a:lnTo>
                <a:lnTo>
                  <a:pt x="0" y="0"/>
                </a:lnTo>
                <a:lnTo>
                  <a:pt x="0" y="99060"/>
                </a:lnTo>
                <a:close/>
              </a:path>
            </a:pathLst>
          </a:custGeom>
          <a:solidFill>
            <a:srgbClr val="0000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-1270" y="4572000"/>
            <a:ext cx="1982470" cy="100330"/>
          </a:xfrm>
          <a:custGeom>
            <a:avLst/>
            <a:gdLst/>
            <a:ahLst/>
            <a:cxnLst/>
            <a:rect l="l" t="t" r="r" b="b"/>
            <a:pathLst>
              <a:path w="1982470" h="100329">
                <a:moveTo>
                  <a:pt x="0" y="100330"/>
                </a:moveTo>
                <a:lnTo>
                  <a:pt x="1982470" y="100330"/>
                </a:lnTo>
                <a:lnTo>
                  <a:pt x="1982470" y="0"/>
                </a:lnTo>
                <a:lnTo>
                  <a:pt x="0" y="0"/>
                </a:lnTo>
                <a:lnTo>
                  <a:pt x="0" y="100330"/>
                </a:lnTo>
                <a:close/>
              </a:path>
            </a:pathLst>
          </a:custGeom>
          <a:solidFill>
            <a:srgbClr val="0000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229600" y="4572000"/>
            <a:ext cx="1678939" cy="100330"/>
          </a:xfrm>
          <a:custGeom>
            <a:avLst/>
            <a:gdLst/>
            <a:ahLst/>
            <a:cxnLst/>
            <a:rect l="l" t="t" r="r" b="b"/>
            <a:pathLst>
              <a:path w="1678940" h="100329">
                <a:moveTo>
                  <a:pt x="0" y="100330"/>
                </a:moveTo>
                <a:lnTo>
                  <a:pt x="1678940" y="100330"/>
                </a:lnTo>
                <a:lnTo>
                  <a:pt x="1678940" y="0"/>
                </a:lnTo>
                <a:lnTo>
                  <a:pt x="0" y="0"/>
                </a:lnTo>
                <a:lnTo>
                  <a:pt x="0" y="100330"/>
                </a:lnTo>
                <a:close/>
              </a:path>
            </a:pathLst>
          </a:custGeom>
          <a:solidFill>
            <a:srgbClr val="0000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-1270" y="4672329"/>
            <a:ext cx="1982470" cy="99060"/>
          </a:xfrm>
          <a:custGeom>
            <a:avLst/>
            <a:gdLst/>
            <a:ahLst/>
            <a:cxnLst/>
            <a:rect l="l" t="t" r="r" b="b"/>
            <a:pathLst>
              <a:path w="1982470" h="99060">
                <a:moveTo>
                  <a:pt x="0" y="99060"/>
                </a:moveTo>
                <a:lnTo>
                  <a:pt x="1982470" y="99060"/>
                </a:lnTo>
                <a:lnTo>
                  <a:pt x="1982470" y="0"/>
                </a:lnTo>
                <a:lnTo>
                  <a:pt x="0" y="0"/>
                </a:lnTo>
                <a:lnTo>
                  <a:pt x="0" y="99060"/>
                </a:lnTo>
                <a:close/>
              </a:path>
            </a:pathLst>
          </a:custGeom>
          <a:solidFill>
            <a:srgbClr val="0000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229600" y="4672329"/>
            <a:ext cx="1678939" cy="99060"/>
          </a:xfrm>
          <a:custGeom>
            <a:avLst/>
            <a:gdLst/>
            <a:ahLst/>
            <a:cxnLst/>
            <a:rect l="l" t="t" r="r" b="b"/>
            <a:pathLst>
              <a:path w="1678940" h="99060">
                <a:moveTo>
                  <a:pt x="0" y="99060"/>
                </a:moveTo>
                <a:lnTo>
                  <a:pt x="1678940" y="99060"/>
                </a:lnTo>
                <a:lnTo>
                  <a:pt x="1678940" y="0"/>
                </a:lnTo>
                <a:lnTo>
                  <a:pt x="0" y="0"/>
                </a:lnTo>
                <a:lnTo>
                  <a:pt x="0" y="99060"/>
                </a:lnTo>
                <a:close/>
              </a:path>
            </a:pathLst>
          </a:custGeom>
          <a:solidFill>
            <a:srgbClr val="0000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-1270" y="4771390"/>
            <a:ext cx="1982470" cy="99060"/>
          </a:xfrm>
          <a:custGeom>
            <a:avLst/>
            <a:gdLst/>
            <a:ahLst/>
            <a:cxnLst/>
            <a:rect l="l" t="t" r="r" b="b"/>
            <a:pathLst>
              <a:path w="1982470" h="99060">
                <a:moveTo>
                  <a:pt x="0" y="99060"/>
                </a:moveTo>
                <a:lnTo>
                  <a:pt x="1982470" y="99060"/>
                </a:lnTo>
                <a:lnTo>
                  <a:pt x="1982470" y="0"/>
                </a:lnTo>
                <a:lnTo>
                  <a:pt x="0" y="0"/>
                </a:lnTo>
                <a:lnTo>
                  <a:pt x="0" y="99060"/>
                </a:lnTo>
                <a:close/>
              </a:path>
            </a:pathLst>
          </a:custGeom>
          <a:solidFill>
            <a:srgbClr val="000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229600" y="4771390"/>
            <a:ext cx="1678939" cy="99060"/>
          </a:xfrm>
          <a:custGeom>
            <a:avLst/>
            <a:gdLst/>
            <a:ahLst/>
            <a:cxnLst/>
            <a:rect l="l" t="t" r="r" b="b"/>
            <a:pathLst>
              <a:path w="1678940" h="99060">
                <a:moveTo>
                  <a:pt x="0" y="99060"/>
                </a:moveTo>
                <a:lnTo>
                  <a:pt x="1678940" y="99060"/>
                </a:lnTo>
                <a:lnTo>
                  <a:pt x="1678940" y="0"/>
                </a:lnTo>
                <a:lnTo>
                  <a:pt x="0" y="0"/>
                </a:lnTo>
                <a:lnTo>
                  <a:pt x="0" y="99060"/>
                </a:lnTo>
                <a:close/>
              </a:path>
            </a:pathLst>
          </a:custGeom>
          <a:solidFill>
            <a:srgbClr val="000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-1270" y="4870450"/>
            <a:ext cx="1982470" cy="99060"/>
          </a:xfrm>
          <a:custGeom>
            <a:avLst/>
            <a:gdLst/>
            <a:ahLst/>
            <a:cxnLst/>
            <a:rect l="l" t="t" r="r" b="b"/>
            <a:pathLst>
              <a:path w="1982470" h="99060">
                <a:moveTo>
                  <a:pt x="0" y="99060"/>
                </a:moveTo>
                <a:lnTo>
                  <a:pt x="1982470" y="99060"/>
                </a:lnTo>
                <a:lnTo>
                  <a:pt x="1982470" y="0"/>
                </a:lnTo>
                <a:lnTo>
                  <a:pt x="0" y="0"/>
                </a:lnTo>
                <a:lnTo>
                  <a:pt x="0" y="99060"/>
                </a:lnTo>
                <a:close/>
              </a:path>
            </a:pathLst>
          </a:custGeom>
          <a:solidFill>
            <a:srgbClr val="0000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229600" y="4870450"/>
            <a:ext cx="1678939" cy="99060"/>
          </a:xfrm>
          <a:custGeom>
            <a:avLst/>
            <a:gdLst/>
            <a:ahLst/>
            <a:cxnLst/>
            <a:rect l="l" t="t" r="r" b="b"/>
            <a:pathLst>
              <a:path w="1678940" h="99060">
                <a:moveTo>
                  <a:pt x="0" y="99060"/>
                </a:moveTo>
                <a:lnTo>
                  <a:pt x="1678940" y="99060"/>
                </a:lnTo>
                <a:lnTo>
                  <a:pt x="1678940" y="0"/>
                </a:lnTo>
                <a:lnTo>
                  <a:pt x="0" y="0"/>
                </a:lnTo>
                <a:lnTo>
                  <a:pt x="0" y="99060"/>
                </a:lnTo>
                <a:close/>
              </a:path>
            </a:pathLst>
          </a:custGeom>
          <a:solidFill>
            <a:srgbClr val="0000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-1270" y="4969509"/>
            <a:ext cx="1982470" cy="100330"/>
          </a:xfrm>
          <a:custGeom>
            <a:avLst/>
            <a:gdLst/>
            <a:ahLst/>
            <a:cxnLst/>
            <a:rect l="l" t="t" r="r" b="b"/>
            <a:pathLst>
              <a:path w="1982470" h="100329">
                <a:moveTo>
                  <a:pt x="0" y="100329"/>
                </a:moveTo>
                <a:lnTo>
                  <a:pt x="1982470" y="100329"/>
                </a:lnTo>
                <a:lnTo>
                  <a:pt x="1982470" y="0"/>
                </a:lnTo>
                <a:lnTo>
                  <a:pt x="0" y="0"/>
                </a:lnTo>
                <a:lnTo>
                  <a:pt x="0" y="100329"/>
                </a:lnTo>
                <a:close/>
              </a:path>
            </a:pathLst>
          </a:custGeom>
          <a:solidFill>
            <a:srgbClr val="0000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229600" y="4969509"/>
            <a:ext cx="1678939" cy="100330"/>
          </a:xfrm>
          <a:custGeom>
            <a:avLst/>
            <a:gdLst/>
            <a:ahLst/>
            <a:cxnLst/>
            <a:rect l="l" t="t" r="r" b="b"/>
            <a:pathLst>
              <a:path w="1678940" h="100329">
                <a:moveTo>
                  <a:pt x="0" y="100329"/>
                </a:moveTo>
                <a:lnTo>
                  <a:pt x="1678940" y="100329"/>
                </a:lnTo>
                <a:lnTo>
                  <a:pt x="1678940" y="0"/>
                </a:lnTo>
                <a:lnTo>
                  <a:pt x="0" y="0"/>
                </a:lnTo>
                <a:lnTo>
                  <a:pt x="0" y="100329"/>
                </a:lnTo>
                <a:close/>
              </a:path>
            </a:pathLst>
          </a:custGeom>
          <a:solidFill>
            <a:srgbClr val="0000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-1270" y="5069840"/>
            <a:ext cx="1982470" cy="99060"/>
          </a:xfrm>
          <a:custGeom>
            <a:avLst/>
            <a:gdLst/>
            <a:ahLst/>
            <a:cxnLst/>
            <a:rect l="l" t="t" r="r" b="b"/>
            <a:pathLst>
              <a:path w="1982470" h="99060">
                <a:moveTo>
                  <a:pt x="0" y="99060"/>
                </a:moveTo>
                <a:lnTo>
                  <a:pt x="1982470" y="99060"/>
                </a:lnTo>
                <a:lnTo>
                  <a:pt x="1982470" y="0"/>
                </a:lnTo>
                <a:lnTo>
                  <a:pt x="0" y="0"/>
                </a:lnTo>
                <a:lnTo>
                  <a:pt x="0" y="99060"/>
                </a:lnTo>
                <a:close/>
              </a:path>
            </a:pathLst>
          </a:custGeom>
          <a:solidFill>
            <a:srgbClr val="000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229600" y="5069840"/>
            <a:ext cx="1678939" cy="99060"/>
          </a:xfrm>
          <a:custGeom>
            <a:avLst/>
            <a:gdLst/>
            <a:ahLst/>
            <a:cxnLst/>
            <a:rect l="l" t="t" r="r" b="b"/>
            <a:pathLst>
              <a:path w="1678940" h="99060">
                <a:moveTo>
                  <a:pt x="0" y="99060"/>
                </a:moveTo>
                <a:lnTo>
                  <a:pt x="1678940" y="99060"/>
                </a:lnTo>
                <a:lnTo>
                  <a:pt x="1678940" y="0"/>
                </a:lnTo>
                <a:lnTo>
                  <a:pt x="0" y="0"/>
                </a:lnTo>
                <a:lnTo>
                  <a:pt x="0" y="99060"/>
                </a:lnTo>
                <a:close/>
              </a:path>
            </a:pathLst>
          </a:custGeom>
          <a:solidFill>
            <a:srgbClr val="000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-1270" y="5168900"/>
            <a:ext cx="1982470" cy="99060"/>
          </a:xfrm>
          <a:custGeom>
            <a:avLst/>
            <a:gdLst/>
            <a:ahLst/>
            <a:cxnLst/>
            <a:rect l="l" t="t" r="r" b="b"/>
            <a:pathLst>
              <a:path w="1982470" h="99060">
                <a:moveTo>
                  <a:pt x="0" y="99059"/>
                </a:moveTo>
                <a:lnTo>
                  <a:pt x="1982470" y="99059"/>
                </a:lnTo>
                <a:lnTo>
                  <a:pt x="198247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004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8229600" y="5168900"/>
            <a:ext cx="1678939" cy="99060"/>
          </a:xfrm>
          <a:custGeom>
            <a:avLst/>
            <a:gdLst/>
            <a:ahLst/>
            <a:cxnLst/>
            <a:rect l="l" t="t" r="r" b="b"/>
            <a:pathLst>
              <a:path w="1678940" h="99060">
                <a:moveTo>
                  <a:pt x="0" y="99059"/>
                </a:moveTo>
                <a:lnTo>
                  <a:pt x="1678940" y="99059"/>
                </a:lnTo>
                <a:lnTo>
                  <a:pt x="167894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004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-1270" y="5267959"/>
            <a:ext cx="1982470" cy="99060"/>
          </a:xfrm>
          <a:custGeom>
            <a:avLst/>
            <a:gdLst/>
            <a:ahLst/>
            <a:cxnLst/>
            <a:rect l="l" t="t" r="r" b="b"/>
            <a:pathLst>
              <a:path w="1982470" h="99060">
                <a:moveTo>
                  <a:pt x="0" y="99059"/>
                </a:moveTo>
                <a:lnTo>
                  <a:pt x="1982470" y="99059"/>
                </a:lnTo>
                <a:lnTo>
                  <a:pt x="198247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00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8229600" y="5267959"/>
            <a:ext cx="1678939" cy="99060"/>
          </a:xfrm>
          <a:custGeom>
            <a:avLst/>
            <a:gdLst/>
            <a:ahLst/>
            <a:cxnLst/>
            <a:rect l="l" t="t" r="r" b="b"/>
            <a:pathLst>
              <a:path w="1678940" h="99060">
                <a:moveTo>
                  <a:pt x="0" y="99059"/>
                </a:moveTo>
                <a:lnTo>
                  <a:pt x="1678940" y="99059"/>
                </a:lnTo>
                <a:lnTo>
                  <a:pt x="167894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00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-1270" y="5367020"/>
            <a:ext cx="1982470" cy="100330"/>
          </a:xfrm>
          <a:custGeom>
            <a:avLst/>
            <a:gdLst/>
            <a:ahLst/>
            <a:cxnLst/>
            <a:rect l="l" t="t" r="r" b="b"/>
            <a:pathLst>
              <a:path w="1982470" h="100329">
                <a:moveTo>
                  <a:pt x="0" y="100329"/>
                </a:moveTo>
                <a:lnTo>
                  <a:pt x="1982470" y="100329"/>
                </a:lnTo>
                <a:lnTo>
                  <a:pt x="1982470" y="0"/>
                </a:lnTo>
                <a:lnTo>
                  <a:pt x="0" y="0"/>
                </a:lnTo>
                <a:lnTo>
                  <a:pt x="0" y="100329"/>
                </a:lnTo>
                <a:close/>
              </a:path>
            </a:pathLst>
          </a:custGeom>
          <a:solidFill>
            <a:srgbClr val="0000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8229600" y="5367020"/>
            <a:ext cx="1678939" cy="100330"/>
          </a:xfrm>
          <a:custGeom>
            <a:avLst/>
            <a:gdLst/>
            <a:ahLst/>
            <a:cxnLst/>
            <a:rect l="l" t="t" r="r" b="b"/>
            <a:pathLst>
              <a:path w="1678940" h="100329">
                <a:moveTo>
                  <a:pt x="0" y="100329"/>
                </a:moveTo>
                <a:lnTo>
                  <a:pt x="1678940" y="100329"/>
                </a:lnTo>
                <a:lnTo>
                  <a:pt x="1678940" y="0"/>
                </a:lnTo>
                <a:lnTo>
                  <a:pt x="0" y="0"/>
                </a:lnTo>
                <a:lnTo>
                  <a:pt x="0" y="100329"/>
                </a:lnTo>
                <a:close/>
              </a:path>
            </a:pathLst>
          </a:custGeom>
          <a:solidFill>
            <a:srgbClr val="0000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-1270" y="5467350"/>
            <a:ext cx="1982470" cy="99060"/>
          </a:xfrm>
          <a:custGeom>
            <a:avLst/>
            <a:gdLst/>
            <a:ahLst/>
            <a:cxnLst/>
            <a:rect l="l" t="t" r="r" b="b"/>
            <a:pathLst>
              <a:path w="1982470" h="99060">
                <a:moveTo>
                  <a:pt x="0" y="99059"/>
                </a:moveTo>
                <a:lnTo>
                  <a:pt x="1982470" y="99059"/>
                </a:lnTo>
                <a:lnTo>
                  <a:pt x="198247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00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8229600" y="5467350"/>
            <a:ext cx="1678939" cy="99060"/>
          </a:xfrm>
          <a:custGeom>
            <a:avLst/>
            <a:gdLst/>
            <a:ahLst/>
            <a:cxnLst/>
            <a:rect l="l" t="t" r="r" b="b"/>
            <a:pathLst>
              <a:path w="1678940" h="99060">
                <a:moveTo>
                  <a:pt x="0" y="99059"/>
                </a:moveTo>
                <a:lnTo>
                  <a:pt x="1678940" y="99059"/>
                </a:lnTo>
                <a:lnTo>
                  <a:pt x="167894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00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-1270" y="5566409"/>
            <a:ext cx="1982470" cy="99060"/>
          </a:xfrm>
          <a:custGeom>
            <a:avLst/>
            <a:gdLst/>
            <a:ahLst/>
            <a:cxnLst/>
            <a:rect l="l" t="t" r="r" b="b"/>
            <a:pathLst>
              <a:path w="1982470" h="99060">
                <a:moveTo>
                  <a:pt x="0" y="99059"/>
                </a:moveTo>
                <a:lnTo>
                  <a:pt x="1982470" y="99059"/>
                </a:lnTo>
                <a:lnTo>
                  <a:pt x="198247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00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8229600" y="5566409"/>
            <a:ext cx="1678939" cy="99060"/>
          </a:xfrm>
          <a:custGeom>
            <a:avLst/>
            <a:gdLst/>
            <a:ahLst/>
            <a:cxnLst/>
            <a:rect l="l" t="t" r="r" b="b"/>
            <a:pathLst>
              <a:path w="1678940" h="99060">
                <a:moveTo>
                  <a:pt x="0" y="99059"/>
                </a:moveTo>
                <a:lnTo>
                  <a:pt x="1678940" y="99059"/>
                </a:lnTo>
                <a:lnTo>
                  <a:pt x="167894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00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-1270" y="5665470"/>
            <a:ext cx="1982470" cy="100330"/>
          </a:xfrm>
          <a:custGeom>
            <a:avLst/>
            <a:gdLst/>
            <a:ahLst/>
            <a:cxnLst/>
            <a:rect l="l" t="t" r="r" b="b"/>
            <a:pathLst>
              <a:path w="1982470" h="100329">
                <a:moveTo>
                  <a:pt x="0" y="100329"/>
                </a:moveTo>
                <a:lnTo>
                  <a:pt x="1982470" y="100329"/>
                </a:lnTo>
                <a:lnTo>
                  <a:pt x="1982470" y="0"/>
                </a:lnTo>
                <a:lnTo>
                  <a:pt x="0" y="0"/>
                </a:lnTo>
                <a:lnTo>
                  <a:pt x="0" y="100329"/>
                </a:lnTo>
                <a:close/>
              </a:path>
            </a:pathLst>
          </a:custGeom>
          <a:solidFill>
            <a:srgbClr val="0000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8229600" y="5665470"/>
            <a:ext cx="1678939" cy="100330"/>
          </a:xfrm>
          <a:custGeom>
            <a:avLst/>
            <a:gdLst/>
            <a:ahLst/>
            <a:cxnLst/>
            <a:rect l="l" t="t" r="r" b="b"/>
            <a:pathLst>
              <a:path w="1678940" h="100329">
                <a:moveTo>
                  <a:pt x="0" y="100329"/>
                </a:moveTo>
                <a:lnTo>
                  <a:pt x="1678940" y="100329"/>
                </a:lnTo>
                <a:lnTo>
                  <a:pt x="1678940" y="0"/>
                </a:lnTo>
                <a:lnTo>
                  <a:pt x="0" y="0"/>
                </a:lnTo>
                <a:lnTo>
                  <a:pt x="0" y="100329"/>
                </a:lnTo>
                <a:close/>
              </a:path>
            </a:pathLst>
          </a:custGeom>
          <a:solidFill>
            <a:srgbClr val="0000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-1270" y="5765800"/>
            <a:ext cx="1982470" cy="99060"/>
          </a:xfrm>
          <a:custGeom>
            <a:avLst/>
            <a:gdLst/>
            <a:ahLst/>
            <a:cxnLst/>
            <a:rect l="l" t="t" r="r" b="b"/>
            <a:pathLst>
              <a:path w="1982470" h="99060">
                <a:moveTo>
                  <a:pt x="0" y="99059"/>
                </a:moveTo>
                <a:lnTo>
                  <a:pt x="1982470" y="99059"/>
                </a:lnTo>
                <a:lnTo>
                  <a:pt x="198247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0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8229600" y="5765800"/>
            <a:ext cx="1678939" cy="99060"/>
          </a:xfrm>
          <a:custGeom>
            <a:avLst/>
            <a:gdLst/>
            <a:ahLst/>
            <a:cxnLst/>
            <a:rect l="l" t="t" r="r" b="b"/>
            <a:pathLst>
              <a:path w="1678940" h="99060">
                <a:moveTo>
                  <a:pt x="0" y="99059"/>
                </a:moveTo>
                <a:lnTo>
                  <a:pt x="1678940" y="99059"/>
                </a:lnTo>
                <a:lnTo>
                  <a:pt x="167894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0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-1270" y="5864859"/>
            <a:ext cx="1982470" cy="99060"/>
          </a:xfrm>
          <a:custGeom>
            <a:avLst/>
            <a:gdLst/>
            <a:ahLst/>
            <a:cxnLst/>
            <a:rect l="l" t="t" r="r" b="b"/>
            <a:pathLst>
              <a:path w="1982470" h="99060">
                <a:moveTo>
                  <a:pt x="0" y="99059"/>
                </a:moveTo>
                <a:lnTo>
                  <a:pt x="1982470" y="99059"/>
                </a:lnTo>
                <a:lnTo>
                  <a:pt x="198247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00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229600" y="5864859"/>
            <a:ext cx="1678939" cy="99060"/>
          </a:xfrm>
          <a:custGeom>
            <a:avLst/>
            <a:gdLst/>
            <a:ahLst/>
            <a:cxnLst/>
            <a:rect l="l" t="t" r="r" b="b"/>
            <a:pathLst>
              <a:path w="1678940" h="99060">
                <a:moveTo>
                  <a:pt x="0" y="99059"/>
                </a:moveTo>
                <a:lnTo>
                  <a:pt x="1678940" y="99059"/>
                </a:lnTo>
                <a:lnTo>
                  <a:pt x="167894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00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-1270" y="5963920"/>
            <a:ext cx="1982470" cy="99060"/>
          </a:xfrm>
          <a:custGeom>
            <a:avLst/>
            <a:gdLst/>
            <a:ahLst/>
            <a:cxnLst/>
            <a:rect l="l" t="t" r="r" b="b"/>
            <a:pathLst>
              <a:path w="1982470" h="99060">
                <a:moveTo>
                  <a:pt x="0" y="99059"/>
                </a:moveTo>
                <a:lnTo>
                  <a:pt x="1982470" y="99059"/>
                </a:lnTo>
                <a:lnTo>
                  <a:pt x="198247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00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8229600" y="5963920"/>
            <a:ext cx="1678939" cy="99060"/>
          </a:xfrm>
          <a:custGeom>
            <a:avLst/>
            <a:gdLst/>
            <a:ahLst/>
            <a:cxnLst/>
            <a:rect l="l" t="t" r="r" b="b"/>
            <a:pathLst>
              <a:path w="1678940" h="99060">
                <a:moveTo>
                  <a:pt x="0" y="99059"/>
                </a:moveTo>
                <a:lnTo>
                  <a:pt x="1678940" y="99059"/>
                </a:lnTo>
                <a:lnTo>
                  <a:pt x="167894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00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-1270" y="6062979"/>
            <a:ext cx="1982470" cy="100330"/>
          </a:xfrm>
          <a:custGeom>
            <a:avLst/>
            <a:gdLst/>
            <a:ahLst/>
            <a:cxnLst/>
            <a:rect l="l" t="t" r="r" b="b"/>
            <a:pathLst>
              <a:path w="1982470" h="100329">
                <a:moveTo>
                  <a:pt x="0" y="100330"/>
                </a:moveTo>
                <a:lnTo>
                  <a:pt x="1982470" y="100330"/>
                </a:lnTo>
                <a:lnTo>
                  <a:pt x="1982470" y="0"/>
                </a:lnTo>
                <a:lnTo>
                  <a:pt x="0" y="0"/>
                </a:lnTo>
                <a:lnTo>
                  <a:pt x="0" y="100330"/>
                </a:lnTo>
                <a:close/>
              </a:path>
            </a:pathLst>
          </a:custGeom>
          <a:solidFill>
            <a:srgbClr val="0000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8229600" y="6062979"/>
            <a:ext cx="1678939" cy="100330"/>
          </a:xfrm>
          <a:custGeom>
            <a:avLst/>
            <a:gdLst/>
            <a:ahLst/>
            <a:cxnLst/>
            <a:rect l="l" t="t" r="r" b="b"/>
            <a:pathLst>
              <a:path w="1678940" h="100329">
                <a:moveTo>
                  <a:pt x="0" y="100330"/>
                </a:moveTo>
                <a:lnTo>
                  <a:pt x="1678940" y="100330"/>
                </a:lnTo>
                <a:lnTo>
                  <a:pt x="1678940" y="0"/>
                </a:lnTo>
                <a:lnTo>
                  <a:pt x="0" y="0"/>
                </a:lnTo>
                <a:lnTo>
                  <a:pt x="0" y="100330"/>
                </a:lnTo>
                <a:close/>
              </a:path>
            </a:pathLst>
          </a:custGeom>
          <a:solidFill>
            <a:srgbClr val="0000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-1270" y="6163309"/>
            <a:ext cx="1982470" cy="99060"/>
          </a:xfrm>
          <a:custGeom>
            <a:avLst/>
            <a:gdLst/>
            <a:ahLst/>
            <a:cxnLst/>
            <a:rect l="l" t="t" r="r" b="b"/>
            <a:pathLst>
              <a:path w="1982470" h="99060">
                <a:moveTo>
                  <a:pt x="0" y="99059"/>
                </a:moveTo>
                <a:lnTo>
                  <a:pt x="1982470" y="99059"/>
                </a:lnTo>
                <a:lnTo>
                  <a:pt x="198247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004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8229600" y="6163309"/>
            <a:ext cx="1678939" cy="99060"/>
          </a:xfrm>
          <a:custGeom>
            <a:avLst/>
            <a:gdLst/>
            <a:ahLst/>
            <a:cxnLst/>
            <a:rect l="l" t="t" r="r" b="b"/>
            <a:pathLst>
              <a:path w="1678940" h="99060">
                <a:moveTo>
                  <a:pt x="0" y="99059"/>
                </a:moveTo>
                <a:lnTo>
                  <a:pt x="1678940" y="99059"/>
                </a:lnTo>
                <a:lnTo>
                  <a:pt x="167894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004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-1270" y="6262370"/>
            <a:ext cx="1982470" cy="99060"/>
          </a:xfrm>
          <a:custGeom>
            <a:avLst/>
            <a:gdLst/>
            <a:ahLst/>
            <a:cxnLst/>
            <a:rect l="l" t="t" r="r" b="b"/>
            <a:pathLst>
              <a:path w="1982470" h="99060">
                <a:moveTo>
                  <a:pt x="0" y="99059"/>
                </a:moveTo>
                <a:lnTo>
                  <a:pt x="1982470" y="99059"/>
                </a:lnTo>
                <a:lnTo>
                  <a:pt x="198247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00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8229600" y="6262370"/>
            <a:ext cx="1678939" cy="99060"/>
          </a:xfrm>
          <a:custGeom>
            <a:avLst/>
            <a:gdLst/>
            <a:ahLst/>
            <a:cxnLst/>
            <a:rect l="l" t="t" r="r" b="b"/>
            <a:pathLst>
              <a:path w="1678940" h="99060">
                <a:moveTo>
                  <a:pt x="0" y="99059"/>
                </a:moveTo>
                <a:lnTo>
                  <a:pt x="1678940" y="99059"/>
                </a:lnTo>
                <a:lnTo>
                  <a:pt x="167894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00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8" name="object 88"/>
          <p:cNvGrpSpPr/>
          <p:nvPr/>
        </p:nvGrpSpPr>
        <p:grpSpPr>
          <a:xfrm>
            <a:off x="-1270" y="6361429"/>
            <a:ext cx="9909810" cy="497840"/>
            <a:chOff x="-1270" y="6361429"/>
            <a:chExt cx="9909810" cy="497840"/>
          </a:xfrm>
        </p:grpSpPr>
        <p:sp>
          <p:nvSpPr>
            <p:cNvPr id="89" name="object 89"/>
            <p:cNvSpPr/>
            <p:nvPr/>
          </p:nvSpPr>
          <p:spPr>
            <a:xfrm>
              <a:off x="-1270" y="636142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3937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3937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-1270" y="646175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-1270" y="656081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-1270" y="66598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-1270" y="675893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/>
          <p:cNvSpPr/>
          <p:nvPr/>
        </p:nvSpPr>
        <p:spPr>
          <a:xfrm>
            <a:off x="26669" y="1371600"/>
            <a:ext cx="9879330" cy="5080"/>
          </a:xfrm>
          <a:custGeom>
            <a:avLst/>
            <a:gdLst/>
            <a:ahLst/>
            <a:cxnLst/>
            <a:rect l="l" t="t" r="r" b="b"/>
            <a:pathLst>
              <a:path w="9879330" h="5080">
                <a:moveTo>
                  <a:pt x="0" y="0"/>
                </a:moveTo>
                <a:lnTo>
                  <a:pt x="9879330" y="5079"/>
                </a:lnTo>
              </a:path>
            </a:pathLst>
          </a:custGeom>
          <a:ln w="50676">
            <a:solidFill>
              <a:srgbClr val="FB00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1981200" y="1524000"/>
            <a:ext cx="6248400" cy="4876800"/>
          </a:xfrm>
          <a:custGeom>
            <a:avLst/>
            <a:gdLst/>
            <a:ahLst/>
            <a:cxnLst/>
            <a:rect l="l" t="t" r="r" b="b"/>
            <a:pathLst>
              <a:path w="6248400" h="4876800">
                <a:moveTo>
                  <a:pt x="6248400" y="0"/>
                </a:moveTo>
                <a:lnTo>
                  <a:pt x="0" y="0"/>
                </a:lnTo>
                <a:lnTo>
                  <a:pt x="0" y="4876800"/>
                </a:lnTo>
                <a:lnTo>
                  <a:pt x="6248400" y="4876800"/>
                </a:lnTo>
                <a:close/>
              </a:path>
            </a:pathLst>
          </a:custGeom>
          <a:solidFill>
            <a:srgbClr val="DAF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>
            <a:spLocks noGrp="1"/>
          </p:cNvSpPr>
          <p:nvPr>
            <p:ph type="title"/>
          </p:nvPr>
        </p:nvSpPr>
        <p:spPr>
          <a:xfrm>
            <a:off x="2298700" y="547370"/>
            <a:ext cx="531368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Activity cost</a:t>
            </a:r>
            <a:r>
              <a:rPr dirty="0" sz="4000" spc="-15"/>
              <a:t> </a:t>
            </a:r>
            <a:r>
              <a:rPr dirty="0" sz="4000" spc="-5"/>
              <a:t>distribution</a:t>
            </a:r>
            <a:endParaRPr sz="4000"/>
          </a:p>
        </p:txBody>
      </p:sp>
      <p:sp>
        <p:nvSpPr>
          <p:cNvPr id="97" name="object 97"/>
          <p:cNvSpPr txBox="1"/>
          <p:nvPr/>
        </p:nvSpPr>
        <p:spPr>
          <a:xfrm>
            <a:off x="2411729" y="1511300"/>
            <a:ext cx="87566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25">
                <a:latin typeface="Arial"/>
                <a:cs typeface="Arial"/>
              </a:rPr>
              <a:t>Waterfall</a:t>
            </a:r>
            <a:r>
              <a:rPr dirty="0" sz="950" spc="-75">
                <a:latin typeface="Arial"/>
                <a:cs typeface="Arial"/>
              </a:rPr>
              <a:t> </a:t>
            </a:r>
            <a:r>
              <a:rPr dirty="0" sz="950" spc="-35">
                <a:latin typeface="Arial"/>
                <a:cs typeface="Arial"/>
              </a:rPr>
              <a:t>model</a:t>
            </a:r>
            <a:endParaRPr sz="95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411729" y="2856230"/>
            <a:ext cx="1173480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5">
                <a:latin typeface="Arial"/>
                <a:cs typeface="Arial"/>
              </a:rPr>
              <a:t>Iterativedevelopment</a:t>
            </a:r>
            <a:endParaRPr sz="95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4281170" y="4108450"/>
            <a:ext cx="47307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25">
                <a:latin typeface="Arial"/>
                <a:cs typeface="Arial"/>
              </a:rPr>
              <a:t>i</a:t>
            </a:r>
            <a:r>
              <a:rPr dirty="0" sz="950" spc="-40">
                <a:latin typeface="Arial"/>
                <a:cs typeface="Arial"/>
              </a:rPr>
              <a:t>n</a:t>
            </a:r>
            <a:r>
              <a:rPr dirty="0" sz="950" spc="-40">
                <a:latin typeface="Arial"/>
                <a:cs typeface="Arial"/>
              </a:rPr>
              <a:t>e</a:t>
            </a:r>
            <a:r>
              <a:rPr dirty="0" sz="950" spc="-50">
                <a:latin typeface="Arial"/>
                <a:cs typeface="Arial"/>
              </a:rPr>
              <a:t>e</a:t>
            </a:r>
            <a:r>
              <a:rPr dirty="0" sz="950" spc="45">
                <a:latin typeface="Arial"/>
                <a:cs typeface="Arial"/>
              </a:rPr>
              <a:t>r</a:t>
            </a:r>
            <a:r>
              <a:rPr dirty="0" sz="950" spc="25">
                <a:latin typeface="Arial"/>
                <a:cs typeface="Arial"/>
              </a:rPr>
              <a:t>i</a:t>
            </a:r>
            <a:r>
              <a:rPr dirty="0" sz="950" spc="-40">
                <a:latin typeface="Arial"/>
                <a:cs typeface="Arial"/>
              </a:rPr>
              <a:t>n</a:t>
            </a:r>
            <a:r>
              <a:rPr dirty="0" sz="950" spc="190">
                <a:latin typeface="Arial"/>
                <a:cs typeface="Arial"/>
              </a:rPr>
              <a:t>g</a:t>
            </a:r>
            <a:endParaRPr sz="95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594350" y="5374640"/>
            <a:ext cx="26098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40">
                <a:latin typeface="Arial"/>
                <a:cs typeface="Arial"/>
              </a:rPr>
              <a:t>e</a:t>
            </a:r>
            <a:r>
              <a:rPr dirty="0" sz="950" spc="-65">
                <a:latin typeface="Arial"/>
                <a:cs typeface="Arial"/>
              </a:rPr>
              <a:t>m</a:t>
            </a:r>
            <a:r>
              <a:rPr dirty="0" sz="950" spc="155">
                <a:latin typeface="Arial"/>
                <a:cs typeface="Arial"/>
              </a:rPr>
              <a:t>s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2416810" y="5812790"/>
            <a:ext cx="5284470" cy="339090"/>
            <a:chOff x="2416810" y="5812790"/>
            <a:chExt cx="5284470" cy="339090"/>
          </a:xfrm>
        </p:grpSpPr>
        <p:sp>
          <p:nvSpPr>
            <p:cNvPr id="102" name="object 102"/>
            <p:cNvSpPr/>
            <p:nvPr/>
          </p:nvSpPr>
          <p:spPr>
            <a:xfrm>
              <a:off x="3768090" y="5820410"/>
              <a:ext cx="3910329" cy="308610"/>
            </a:xfrm>
            <a:custGeom>
              <a:avLst/>
              <a:gdLst/>
              <a:ahLst/>
              <a:cxnLst/>
              <a:rect l="l" t="t" r="r" b="b"/>
              <a:pathLst>
                <a:path w="3910329" h="308610">
                  <a:moveTo>
                    <a:pt x="0" y="308609"/>
                  </a:moveTo>
                  <a:lnTo>
                    <a:pt x="3910330" y="308609"/>
                  </a:lnTo>
                  <a:lnTo>
                    <a:pt x="3910330" y="0"/>
                  </a:lnTo>
                  <a:lnTo>
                    <a:pt x="0" y="0"/>
                  </a:lnTo>
                  <a:lnTo>
                    <a:pt x="0" y="308609"/>
                  </a:lnTo>
                  <a:close/>
                </a:path>
              </a:pathLst>
            </a:custGeom>
            <a:solidFill>
              <a:srgbClr val="5BC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2424430" y="5820410"/>
              <a:ext cx="5269230" cy="323850"/>
            </a:xfrm>
            <a:custGeom>
              <a:avLst/>
              <a:gdLst/>
              <a:ahLst/>
              <a:cxnLst/>
              <a:rect l="l" t="t" r="r" b="b"/>
              <a:pathLst>
                <a:path w="5269230" h="323850">
                  <a:moveTo>
                    <a:pt x="0" y="0"/>
                  </a:moveTo>
                  <a:lnTo>
                    <a:pt x="5269230" y="0"/>
                  </a:lnTo>
                  <a:lnTo>
                    <a:pt x="5269230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082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/>
          <p:cNvSpPr txBox="1"/>
          <p:nvPr/>
        </p:nvSpPr>
        <p:spPr>
          <a:xfrm>
            <a:off x="5300979" y="6209029"/>
            <a:ext cx="899160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10">
                <a:latin typeface="Arial"/>
                <a:cs typeface="Arial"/>
              </a:rPr>
              <a:t>Systemevolution</a:t>
            </a:r>
            <a:endParaRPr sz="95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6320790" y="5607050"/>
            <a:ext cx="17970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45">
                <a:latin typeface="Arial"/>
                <a:cs typeface="Arial"/>
              </a:rPr>
              <a:t>3</a:t>
            </a:r>
            <a:r>
              <a:rPr dirty="0" sz="950" spc="190"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603490" y="5591809"/>
            <a:ext cx="24066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45">
                <a:latin typeface="Arial"/>
                <a:cs typeface="Arial"/>
              </a:rPr>
              <a:t>4</a:t>
            </a:r>
            <a:r>
              <a:rPr dirty="0" sz="950" spc="-55">
                <a:latin typeface="Arial"/>
                <a:cs typeface="Arial"/>
              </a:rPr>
              <a:t>0</a:t>
            </a:r>
            <a:r>
              <a:rPr dirty="0" sz="950" spc="190"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2416810" y="5812790"/>
            <a:ext cx="1374140" cy="339090"/>
            <a:chOff x="2416810" y="5812790"/>
            <a:chExt cx="1374140" cy="339090"/>
          </a:xfrm>
        </p:grpSpPr>
        <p:sp>
          <p:nvSpPr>
            <p:cNvPr id="108" name="object 108"/>
            <p:cNvSpPr/>
            <p:nvPr/>
          </p:nvSpPr>
          <p:spPr>
            <a:xfrm>
              <a:off x="2424430" y="5820410"/>
              <a:ext cx="1343660" cy="308610"/>
            </a:xfrm>
            <a:custGeom>
              <a:avLst/>
              <a:gdLst/>
              <a:ahLst/>
              <a:cxnLst/>
              <a:rect l="l" t="t" r="r" b="b"/>
              <a:pathLst>
                <a:path w="1343660" h="308610">
                  <a:moveTo>
                    <a:pt x="1343659" y="0"/>
                  </a:moveTo>
                  <a:lnTo>
                    <a:pt x="0" y="0"/>
                  </a:lnTo>
                  <a:lnTo>
                    <a:pt x="0" y="308609"/>
                  </a:lnTo>
                  <a:lnTo>
                    <a:pt x="1343659" y="308609"/>
                  </a:lnTo>
                  <a:lnTo>
                    <a:pt x="1343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2424430" y="5820410"/>
              <a:ext cx="1358900" cy="323850"/>
            </a:xfrm>
            <a:custGeom>
              <a:avLst/>
              <a:gdLst/>
              <a:ahLst/>
              <a:cxnLst/>
              <a:rect l="l" t="t" r="r" b="b"/>
              <a:pathLst>
                <a:path w="1358900" h="323850">
                  <a:moveTo>
                    <a:pt x="0" y="0"/>
                  </a:moveTo>
                  <a:lnTo>
                    <a:pt x="1358899" y="0"/>
                  </a:lnTo>
                  <a:lnTo>
                    <a:pt x="1358899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082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/>
          <p:cNvSpPr txBox="1"/>
          <p:nvPr/>
        </p:nvSpPr>
        <p:spPr>
          <a:xfrm>
            <a:off x="2379979" y="5305297"/>
            <a:ext cx="2853055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1750">
              <a:lnSpc>
                <a:spcPct val="150000"/>
              </a:lnSpc>
              <a:spcBef>
                <a:spcPts val="95"/>
              </a:spcBef>
              <a:tabLst>
                <a:tab pos="1294765" algn="l"/>
                <a:tab pos="2624455" algn="l"/>
              </a:tabLst>
            </a:pPr>
            <a:r>
              <a:rPr dirty="0" sz="950" spc="-15">
                <a:latin typeface="Arial"/>
                <a:cs typeface="Arial"/>
              </a:rPr>
              <a:t>Development </a:t>
            </a:r>
            <a:r>
              <a:rPr dirty="0" sz="950" spc="15">
                <a:latin typeface="Arial"/>
                <a:cs typeface="Arial"/>
              </a:rPr>
              <a:t>andevolutioncostsfor </a:t>
            </a:r>
            <a:r>
              <a:rPr dirty="0" sz="950" spc="5">
                <a:latin typeface="Arial"/>
                <a:cs typeface="Arial"/>
              </a:rPr>
              <a:t>long-lifetimesyst  </a:t>
            </a:r>
            <a:r>
              <a:rPr dirty="0" sz="950" spc="190">
                <a:latin typeface="Arial"/>
                <a:cs typeface="Arial"/>
              </a:rPr>
              <a:t>0</a:t>
            </a:r>
            <a:r>
              <a:rPr dirty="0" sz="950">
                <a:latin typeface="Arial"/>
                <a:cs typeface="Arial"/>
              </a:rPr>
              <a:t>	</a:t>
            </a:r>
            <a:r>
              <a:rPr dirty="0" sz="950" spc="-45">
                <a:latin typeface="Arial"/>
                <a:cs typeface="Arial"/>
              </a:rPr>
              <a:t>1</a:t>
            </a:r>
            <a:r>
              <a:rPr dirty="0" sz="950" spc="190">
                <a:latin typeface="Arial"/>
                <a:cs typeface="Arial"/>
              </a:rPr>
              <a:t>0</a:t>
            </a:r>
            <a:r>
              <a:rPr dirty="0" sz="950">
                <a:latin typeface="Arial"/>
                <a:cs typeface="Arial"/>
              </a:rPr>
              <a:t>	</a:t>
            </a:r>
            <a:r>
              <a:rPr dirty="0" sz="950" spc="-55">
                <a:latin typeface="Arial"/>
                <a:cs typeface="Arial"/>
              </a:rPr>
              <a:t>2</a:t>
            </a:r>
            <a:r>
              <a:rPr dirty="0" sz="950" spc="-45">
                <a:latin typeface="Arial"/>
                <a:cs typeface="Arial"/>
              </a:rPr>
              <a:t>0</a:t>
            </a:r>
            <a:r>
              <a:rPr dirty="0" sz="950" spc="190"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139" name="object 1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140" name="object 14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141" name="object 1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111" name="object 111"/>
          <p:cNvSpPr txBox="1"/>
          <p:nvPr/>
        </p:nvSpPr>
        <p:spPr>
          <a:xfrm>
            <a:off x="2504439" y="6178550"/>
            <a:ext cx="108013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25">
                <a:latin typeface="Arial"/>
                <a:cs typeface="Arial"/>
              </a:rPr>
              <a:t>Systemdevelopment</a:t>
            </a:r>
            <a:endParaRPr sz="950">
              <a:latin typeface="Arial"/>
              <a:cs typeface="Arial"/>
            </a:endParaRPr>
          </a:p>
        </p:txBody>
      </p:sp>
      <p:graphicFrame>
        <p:nvGraphicFramePr>
          <p:cNvPr id="112" name="object 112"/>
          <p:cNvGraphicFramePr>
            <a:graphicFrameLocks noGrp="1"/>
          </p:cNvGraphicFramePr>
          <p:nvPr/>
        </p:nvGraphicFramePr>
        <p:xfrm>
          <a:off x="2416810" y="1979929"/>
          <a:ext cx="5292090" cy="339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5020"/>
                <a:gridCol w="1344295"/>
                <a:gridCol w="1028064"/>
                <a:gridCol w="2101850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2D6"/>
                      </a:solidFill>
                      <a:prstDash val="solid"/>
                    </a:lnL>
                    <a:lnR w="38100">
                      <a:solidFill>
                        <a:srgbClr val="0082D6"/>
                      </a:solidFill>
                      <a:prstDash val="solid"/>
                    </a:lnR>
                    <a:lnT w="19050">
                      <a:solidFill>
                        <a:srgbClr val="0082D6"/>
                      </a:solidFill>
                      <a:prstDash val="solid"/>
                    </a:lnT>
                    <a:lnB w="19050">
                      <a:solidFill>
                        <a:srgbClr val="008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82D6"/>
                      </a:solidFill>
                      <a:prstDash val="solid"/>
                    </a:lnL>
                    <a:lnR w="38100">
                      <a:solidFill>
                        <a:srgbClr val="0082D6"/>
                      </a:solidFill>
                      <a:prstDash val="solid"/>
                    </a:lnR>
                    <a:lnT w="19050">
                      <a:solidFill>
                        <a:srgbClr val="0082D6"/>
                      </a:solidFill>
                      <a:prstDash val="solid"/>
                    </a:lnT>
                    <a:lnB w="19050">
                      <a:solidFill>
                        <a:srgbClr val="0082D6"/>
                      </a:solidFill>
                      <a:prstDash val="solid"/>
                    </a:lnB>
                    <a:solidFill>
                      <a:srgbClr val="C3E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82D6"/>
                      </a:solidFill>
                      <a:prstDash val="solid"/>
                    </a:lnL>
                    <a:lnR w="19050">
                      <a:solidFill>
                        <a:srgbClr val="0082D6"/>
                      </a:solidFill>
                      <a:prstDash val="solid"/>
                    </a:lnR>
                    <a:lnT w="19050">
                      <a:solidFill>
                        <a:srgbClr val="0082D6"/>
                      </a:solidFill>
                      <a:prstDash val="solid"/>
                    </a:lnT>
                    <a:lnB w="19050">
                      <a:solidFill>
                        <a:srgbClr val="0082D6"/>
                      </a:solidFill>
                      <a:prstDash val="solid"/>
                    </a:lnB>
                    <a:solidFill>
                      <a:srgbClr val="5BC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2D6"/>
                      </a:solidFill>
                      <a:prstDash val="solid"/>
                    </a:lnL>
                    <a:lnR w="19050">
                      <a:solidFill>
                        <a:srgbClr val="0082D6"/>
                      </a:solidFill>
                      <a:prstDash val="solid"/>
                    </a:lnR>
                    <a:lnT w="19050">
                      <a:solidFill>
                        <a:srgbClr val="0082D6"/>
                      </a:solidFill>
                      <a:prstDash val="solid"/>
                    </a:lnT>
                    <a:lnB w="19050">
                      <a:solidFill>
                        <a:srgbClr val="0082D6"/>
                      </a:solidFill>
                      <a:prstDash val="solid"/>
                    </a:lnB>
                    <a:solidFill>
                      <a:srgbClr val="00AEE8"/>
                    </a:solidFill>
                  </a:tcPr>
                </a:tc>
              </a:tr>
            </a:tbl>
          </a:graphicData>
        </a:graphic>
      </p:graphicFrame>
      <p:sp>
        <p:nvSpPr>
          <p:cNvPr id="113" name="object 113"/>
          <p:cNvSpPr txBox="1"/>
          <p:nvPr/>
        </p:nvSpPr>
        <p:spPr>
          <a:xfrm>
            <a:off x="2442210" y="2345689"/>
            <a:ext cx="71437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5">
                <a:latin typeface="Arial"/>
                <a:cs typeface="Arial"/>
              </a:rPr>
              <a:t>Specification</a:t>
            </a:r>
            <a:endParaRPr sz="95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647440" y="2345689"/>
            <a:ext cx="405130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35">
                <a:latin typeface="Arial"/>
                <a:cs typeface="Arial"/>
              </a:rPr>
              <a:t>D</a:t>
            </a:r>
            <a:r>
              <a:rPr dirty="0" sz="950" spc="-40">
                <a:latin typeface="Arial"/>
                <a:cs typeface="Arial"/>
              </a:rPr>
              <a:t>e</a:t>
            </a:r>
            <a:r>
              <a:rPr dirty="0" sz="950" spc="-120">
                <a:latin typeface="Arial"/>
                <a:cs typeface="Arial"/>
              </a:rPr>
              <a:t>s</a:t>
            </a:r>
            <a:r>
              <a:rPr dirty="0" sz="950" spc="35">
                <a:latin typeface="Arial"/>
                <a:cs typeface="Arial"/>
              </a:rPr>
              <a:t>i</a:t>
            </a:r>
            <a:r>
              <a:rPr dirty="0" sz="950" spc="-45">
                <a:latin typeface="Arial"/>
                <a:cs typeface="Arial"/>
              </a:rPr>
              <a:t>g</a:t>
            </a:r>
            <a:r>
              <a:rPr dirty="0" sz="950" spc="140">
                <a:latin typeface="Arial"/>
                <a:cs typeface="Arial"/>
              </a:rPr>
              <a:t>n</a:t>
            </a:r>
            <a:endParaRPr sz="95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4699000" y="2345689"/>
            <a:ext cx="725170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15">
                <a:latin typeface="Arial"/>
                <a:cs typeface="Arial"/>
              </a:rPr>
              <a:t>Development</a:t>
            </a:r>
            <a:endParaRPr sz="95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6012179" y="2345689"/>
            <a:ext cx="119824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10">
                <a:latin typeface="Arial"/>
                <a:cs typeface="Arial"/>
              </a:rPr>
              <a:t>Integrationandtesting</a:t>
            </a:r>
            <a:endParaRPr sz="95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3662679" y="1743710"/>
            <a:ext cx="17970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45">
                <a:latin typeface="Arial"/>
                <a:cs typeface="Arial"/>
              </a:rPr>
              <a:t>2</a:t>
            </a:r>
            <a:r>
              <a:rPr dirty="0" sz="950" spc="190">
                <a:latin typeface="Arial"/>
                <a:cs typeface="Arial"/>
              </a:rPr>
              <a:t>5</a:t>
            </a:r>
            <a:endParaRPr sz="95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4975859" y="1743710"/>
            <a:ext cx="19494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75">
                <a:latin typeface="Arial"/>
                <a:cs typeface="Arial"/>
              </a:rPr>
              <a:t>5</a:t>
            </a:r>
            <a:r>
              <a:rPr dirty="0" sz="950" spc="190"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6305550" y="1774189"/>
            <a:ext cx="17843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50">
                <a:latin typeface="Arial"/>
                <a:cs typeface="Arial"/>
              </a:rPr>
              <a:t>7</a:t>
            </a:r>
            <a:r>
              <a:rPr dirty="0" sz="950" spc="190">
                <a:latin typeface="Arial"/>
                <a:cs typeface="Arial"/>
              </a:rPr>
              <a:t>5</a:t>
            </a:r>
            <a:endParaRPr sz="95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7588250" y="1743710"/>
            <a:ext cx="24066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55">
                <a:latin typeface="Arial"/>
                <a:cs typeface="Arial"/>
              </a:rPr>
              <a:t>1</a:t>
            </a:r>
            <a:r>
              <a:rPr dirty="0" sz="950" spc="-45">
                <a:latin typeface="Arial"/>
                <a:cs typeface="Arial"/>
              </a:rPr>
              <a:t>0</a:t>
            </a:r>
            <a:r>
              <a:rPr dirty="0" sz="950" spc="190"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2379979" y="1743710"/>
            <a:ext cx="11747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190"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graphicFrame>
        <p:nvGraphicFramePr>
          <p:cNvPr id="122" name="object 122"/>
          <p:cNvGraphicFramePr>
            <a:graphicFrameLocks noGrp="1"/>
          </p:cNvGraphicFramePr>
          <p:nvPr/>
        </p:nvGraphicFramePr>
        <p:xfrm>
          <a:off x="2400300" y="4591050"/>
          <a:ext cx="5292090" cy="339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6469"/>
                <a:gridCol w="1691639"/>
                <a:gridCol w="2611120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2D6"/>
                      </a:solidFill>
                      <a:prstDash val="solid"/>
                    </a:lnL>
                    <a:lnR w="38100">
                      <a:solidFill>
                        <a:srgbClr val="0082D6"/>
                      </a:solidFill>
                      <a:prstDash val="solid"/>
                    </a:lnR>
                    <a:lnT w="19050">
                      <a:solidFill>
                        <a:srgbClr val="0082D6"/>
                      </a:solidFill>
                      <a:prstDash val="solid"/>
                    </a:lnT>
                    <a:lnB w="19050">
                      <a:solidFill>
                        <a:srgbClr val="008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82D6"/>
                      </a:solidFill>
                      <a:prstDash val="solid"/>
                    </a:lnL>
                    <a:lnR w="19050">
                      <a:solidFill>
                        <a:srgbClr val="0082D6"/>
                      </a:solidFill>
                      <a:prstDash val="solid"/>
                    </a:lnR>
                    <a:lnT w="19050">
                      <a:solidFill>
                        <a:srgbClr val="0082D6"/>
                      </a:solidFill>
                      <a:prstDash val="solid"/>
                    </a:lnT>
                    <a:lnB w="19050">
                      <a:solidFill>
                        <a:srgbClr val="0082D6"/>
                      </a:solidFill>
                      <a:prstDash val="solid"/>
                    </a:lnB>
                    <a:solidFill>
                      <a:srgbClr val="C3E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2D6"/>
                      </a:solidFill>
                      <a:prstDash val="solid"/>
                    </a:lnL>
                    <a:lnR w="19050">
                      <a:solidFill>
                        <a:srgbClr val="0082D6"/>
                      </a:solidFill>
                      <a:prstDash val="solid"/>
                    </a:lnR>
                    <a:lnT w="19050">
                      <a:solidFill>
                        <a:srgbClr val="0082D6"/>
                      </a:solidFill>
                      <a:prstDash val="solid"/>
                    </a:lnT>
                    <a:lnB w="19050">
                      <a:solidFill>
                        <a:srgbClr val="0082D6"/>
                      </a:solidFill>
                      <a:prstDash val="solid"/>
                    </a:lnB>
                    <a:solidFill>
                      <a:srgbClr val="00AEE8"/>
                    </a:solidFill>
                  </a:tcPr>
                </a:tc>
              </a:tr>
            </a:tbl>
          </a:graphicData>
        </a:graphic>
      </p:graphicFrame>
      <p:sp>
        <p:nvSpPr>
          <p:cNvPr id="123" name="object 123"/>
          <p:cNvSpPr txBox="1"/>
          <p:nvPr/>
        </p:nvSpPr>
        <p:spPr>
          <a:xfrm>
            <a:off x="2395220" y="4942839"/>
            <a:ext cx="71437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5">
                <a:latin typeface="Arial"/>
                <a:cs typeface="Arial"/>
              </a:rPr>
              <a:t>Specification</a:t>
            </a:r>
            <a:endParaRPr sz="95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3431540" y="4942839"/>
            <a:ext cx="725170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15">
                <a:latin typeface="Arial"/>
                <a:cs typeface="Arial"/>
              </a:rPr>
              <a:t>Development</a:t>
            </a:r>
            <a:endParaRPr sz="95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5826759" y="4942839"/>
            <a:ext cx="119951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15">
                <a:latin typeface="Arial"/>
                <a:cs typeface="Arial"/>
              </a:rPr>
              <a:t>Integrationandtesting</a:t>
            </a:r>
            <a:endParaRPr sz="95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4960620" y="4370070"/>
            <a:ext cx="19494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75">
                <a:latin typeface="Arial"/>
                <a:cs typeface="Arial"/>
              </a:rPr>
              <a:t>5</a:t>
            </a:r>
            <a:r>
              <a:rPr dirty="0" sz="950" spc="190"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6290309" y="4385309"/>
            <a:ext cx="17843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50">
                <a:latin typeface="Arial"/>
                <a:cs typeface="Arial"/>
              </a:rPr>
              <a:t>7</a:t>
            </a:r>
            <a:r>
              <a:rPr dirty="0" sz="950" spc="190">
                <a:latin typeface="Arial"/>
                <a:cs typeface="Arial"/>
              </a:rPr>
              <a:t>5</a:t>
            </a:r>
            <a:endParaRPr sz="95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7557769" y="4370070"/>
            <a:ext cx="255904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45">
                <a:latin typeface="Arial"/>
                <a:cs typeface="Arial"/>
              </a:rPr>
              <a:t>1</a:t>
            </a:r>
            <a:r>
              <a:rPr dirty="0" sz="950" spc="-204">
                <a:latin typeface="Arial"/>
                <a:cs typeface="Arial"/>
              </a:rPr>
              <a:t> </a:t>
            </a:r>
            <a:r>
              <a:rPr dirty="0" sz="950" spc="75">
                <a:latin typeface="Arial"/>
                <a:cs typeface="Arial"/>
              </a:rPr>
              <a:t>00</a:t>
            </a:r>
            <a:endParaRPr sz="950">
              <a:latin typeface="Arial"/>
              <a:cs typeface="Aria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2379979" y="4108450"/>
            <a:ext cx="1693545" cy="434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20"/>
              </a:spcBef>
            </a:pPr>
            <a:r>
              <a:rPr dirty="0" sz="950" spc="-10">
                <a:latin typeface="Arial"/>
                <a:cs typeface="Arial"/>
              </a:rPr>
              <a:t>Component-basedsoftwareeng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  <a:tabLst>
                <a:tab pos="1279525" algn="l"/>
              </a:tabLst>
            </a:pPr>
            <a:r>
              <a:rPr dirty="0" sz="950" spc="190">
                <a:latin typeface="Arial"/>
                <a:cs typeface="Arial"/>
              </a:rPr>
              <a:t>0	</a:t>
            </a:r>
            <a:r>
              <a:rPr dirty="0" sz="950" spc="135">
                <a:latin typeface="Arial"/>
                <a:cs typeface="Arial"/>
              </a:rPr>
              <a:t>25</a:t>
            </a:r>
            <a:endParaRPr sz="950">
              <a:latin typeface="Arial"/>
              <a:cs typeface="Arial"/>
            </a:endParaRPr>
          </a:p>
        </p:txBody>
      </p:sp>
      <p:graphicFrame>
        <p:nvGraphicFramePr>
          <p:cNvPr id="130" name="object 130"/>
          <p:cNvGraphicFramePr>
            <a:graphicFrameLocks noGrp="1"/>
          </p:cNvGraphicFramePr>
          <p:nvPr/>
        </p:nvGraphicFramePr>
        <p:xfrm>
          <a:off x="2400300" y="3355340"/>
          <a:ext cx="5292090" cy="339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0540"/>
                <a:gridCol w="293370"/>
                <a:gridCol w="2874010"/>
                <a:gridCol w="1591310"/>
              </a:tblGrid>
              <a:tr h="323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2D6"/>
                      </a:solidFill>
                      <a:prstDash val="solid"/>
                    </a:lnL>
                    <a:lnR w="19050">
                      <a:solidFill>
                        <a:srgbClr val="0082D6"/>
                      </a:solidFill>
                      <a:prstDash val="solid"/>
                    </a:lnR>
                    <a:lnT w="19050">
                      <a:solidFill>
                        <a:srgbClr val="0082D6"/>
                      </a:solidFill>
                      <a:prstDash val="solid"/>
                    </a:lnT>
                    <a:lnB w="19050">
                      <a:solidFill>
                        <a:srgbClr val="0082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2D6"/>
                      </a:solidFill>
                      <a:prstDash val="solid"/>
                    </a:lnL>
                    <a:lnR w="19050">
                      <a:solidFill>
                        <a:srgbClr val="0082D6"/>
                      </a:solidFill>
                      <a:prstDash val="solid"/>
                    </a:lnR>
                    <a:lnT w="19050">
                      <a:solidFill>
                        <a:srgbClr val="0082D6"/>
                      </a:solidFill>
                      <a:prstDash val="solid"/>
                    </a:lnT>
                    <a:lnB w="19050">
                      <a:solidFill>
                        <a:srgbClr val="0082D6"/>
                      </a:solidFill>
                      <a:prstDash val="solid"/>
                    </a:lnB>
                    <a:solidFill>
                      <a:srgbClr val="C3E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2D6"/>
                      </a:solidFill>
                      <a:prstDash val="solid"/>
                    </a:lnL>
                    <a:lnR w="19050">
                      <a:solidFill>
                        <a:srgbClr val="0082D6"/>
                      </a:solidFill>
                      <a:prstDash val="solid"/>
                    </a:lnR>
                    <a:lnT w="19050">
                      <a:solidFill>
                        <a:srgbClr val="0082D6"/>
                      </a:solidFill>
                      <a:prstDash val="solid"/>
                    </a:lnT>
                    <a:lnB w="19050">
                      <a:solidFill>
                        <a:srgbClr val="0082D6"/>
                      </a:solidFill>
                      <a:prstDash val="solid"/>
                    </a:lnB>
                    <a:solidFill>
                      <a:srgbClr val="C3E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2D6"/>
                      </a:solidFill>
                      <a:prstDash val="solid"/>
                    </a:lnL>
                    <a:lnR w="19050">
                      <a:solidFill>
                        <a:srgbClr val="0082D6"/>
                      </a:solidFill>
                      <a:prstDash val="solid"/>
                    </a:lnR>
                    <a:lnT w="19050">
                      <a:solidFill>
                        <a:srgbClr val="0082D6"/>
                      </a:solidFill>
                      <a:prstDash val="solid"/>
                    </a:lnT>
                    <a:lnB w="19050">
                      <a:solidFill>
                        <a:srgbClr val="0082D6"/>
                      </a:solidFill>
                      <a:prstDash val="solid"/>
                    </a:lnB>
                    <a:solidFill>
                      <a:srgbClr val="00AEE8"/>
                    </a:solidFill>
                  </a:tcPr>
                </a:tc>
              </a:tr>
            </a:tbl>
          </a:graphicData>
        </a:graphic>
      </p:graphicFrame>
      <p:sp>
        <p:nvSpPr>
          <p:cNvPr id="131" name="object 131"/>
          <p:cNvSpPr txBox="1"/>
          <p:nvPr/>
        </p:nvSpPr>
        <p:spPr>
          <a:xfrm>
            <a:off x="2395220" y="3721100"/>
            <a:ext cx="71437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5">
                <a:latin typeface="Arial"/>
                <a:cs typeface="Arial"/>
              </a:rPr>
              <a:t>Specification</a:t>
            </a:r>
            <a:endParaRPr sz="95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3770629" y="3721100"/>
            <a:ext cx="1158240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>
                <a:latin typeface="Arial"/>
                <a:cs typeface="Arial"/>
              </a:rPr>
              <a:t>Iterativedevelopment</a:t>
            </a:r>
            <a:endParaRPr sz="950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6445250" y="3721100"/>
            <a:ext cx="76517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15">
                <a:latin typeface="Arial"/>
                <a:cs typeface="Arial"/>
              </a:rPr>
              <a:t>Systemtesting</a:t>
            </a:r>
            <a:endParaRPr sz="950">
              <a:latin typeface="Arial"/>
              <a:cs typeface="Arial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3647440" y="3134360"/>
            <a:ext cx="19494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75">
                <a:latin typeface="Arial"/>
                <a:cs typeface="Arial"/>
              </a:rPr>
              <a:t>2</a:t>
            </a:r>
            <a:r>
              <a:rPr dirty="0" sz="950" spc="190">
                <a:latin typeface="Arial"/>
                <a:cs typeface="Arial"/>
              </a:rPr>
              <a:t>5</a:t>
            </a:r>
            <a:endParaRPr sz="950">
              <a:latin typeface="Arial"/>
              <a:cs typeface="Arial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4960620" y="3134360"/>
            <a:ext cx="19494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75">
                <a:latin typeface="Arial"/>
                <a:cs typeface="Arial"/>
              </a:rPr>
              <a:t>5</a:t>
            </a:r>
            <a:r>
              <a:rPr dirty="0" sz="950" spc="190"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6290309" y="3134360"/>
            <a:ext cx="17843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50">
                <a:latin typeface="Arial"/>
                <a:cs typeface="Arial"/>
              </a:rPr>
              <a:t>7</a:t>
            </a:r>
            <a:r>
              <a:rPr dirty="0" sz="950" spc="190">
                <a:latin typeface="Arial"/>
                <a:cs typeface="Arial"/>
              </a:rPr>
              <a:t>5</a:t>
            </a:r>
            <a:endParaRPr sz="950">
              <a:latin typeface="Arial"/>
              <a:cs typeface="Arial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7557769" y="3134360"/>
            <a:ext cx="255904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45">
                <a:latin typeface="Arial"/>
                <a:cs typeface="Arial"/>
              </a:rPr>
              <a:t>1</a:t>
            </a:r>
            <a:r>
              <a:rPr dirty="0" sz="950" spc="-204">
                <a:latin typeface="Arial"/>
                <a:cs typeface="Arial"/>
              </a:rPr>
              <a:t> </a:t>
            </a:r>
            <a:r>
              <a:rPr dirty="0" sz="950" spc="75">
                <a:latin typeface="Arial"/>
                <a:cs typeface="Arial"/>
              </a:rPr>
              <a:t>00</a:t>
            </a:r>
            <a:endParaRPr sz="950">
              <a:latin typeface="Arial"/>
              <a:cs typeface="Arial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2379979" y="3134360"/>
            <a:ext cx="117475" cy="173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190"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975" rIns="0" bIns="0" rtlCol="0" vert="horz">
            <a:spAutoFit/>
          </a:bodyPr>
          <a:lstStyle/>
          <a:p>
            <a:pPr marL="2856230" marR="5080" indent="-2602230">
              <a:lnSpc>
                <a:spcPts val="3590"/>
              </a:lnSpc>
              <a:spcBef>
                <a:spcPts val="425"/>
              </a:spcBef>
            </a:pPr>
            <a:r>
              <a:rPr dirty="0"/>
              <a:t>What </a:t>
            </a:r>
            <a:r>
              <a:rPr dirty="0" spc="-5"/>
              <a:t>is </a:t>
            </a:r>
            <a:r>
              <a:rPr dirty="0"/>
              <a:t>CASE </a:t>
            </a:r>
            <a:r>
              <a:rPr dirty="0" spc="-5"/>
              <a:t>(Computer-Aided </a:t>
            </a:r>
            <a:r>
              <a:rPr dirty="0"/>
              <a:t>Software  Engineering)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8054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253619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5700" y="2951479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4650" y="1681479"/>
            <a:ext cx="7753350" cy="156210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 marR="5080">
              <a:lnSpc>
                <a:spcPts val="2680"/>
              </a:lnSpc>
              <a:spcBef>
                <a:spcPts val="355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systems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intended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provide automated  support for software process</a:t>
            </a:r>
            <a:r>
              <a:rPr dirty="0" sz="24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activities.</a:t>
            </a:r>
            <a:endParaRPr sz="2400">
              <a:latin typeface="Arial"/>
              <a:cs typeface="Arial"/>
            </a:endParaRPr>
          </a:p>
          <a:p>
            <a:pPr marL="12700" marR="935990">
              <a:lnSpc>
                <a:spcPts val="3270"/>
              </a:lnSpc>
              <a:spcBef>
                <a:spcPts val="114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CASE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systems are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often used for method support.  Upper-CASE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5300" y="3261359"/>
            <a:ext cx="7227570" cy="61341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92759" marR="5080" indent="-480059">
              <a:lnSpc>
                <a:spcPts val="2230"/>
              </a:lnSpc>
              <a:spcBef>
                <a:spcPts val="315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Tools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support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early process activities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of requirements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design;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5700" y="3997959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44650" y="3898900"/>
            <a:ext cx="1784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2400" spc="-15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2400" spc="1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65300" y="4306570"/>
            <a:ext cx="6534784" cy="61468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492759" marR="5080" indent="-480059">
              <a:lnSpc>
                <a:spcPts val="2240"/>
              </a:lnSpc>
              <a:spcBef>
                <a:spcPts val="305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Tools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support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later activities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such as programming,  debugging and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testing.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1419" y="486409"/>
            <a:ext cx="74993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dirty="0" spc="-5"/>
              <a:t>are </a:t>
            </a:r>
            <a:r>
              <a:rPr dirty="0"/>
              <a:t>the </a:t>
            </a:r>
            <a:r>
              <a:rPr dirty="0" spc="-5"/>
              <a:t>attributes </a:t>
            </a:r>
            <a:r>
              <a:rPr dirty="0"/>
              <a:t>of good</a:t>
            </a:r>
            <a:r>
              <a:rPr dirty="0" spc="15"/>
              <a:t> </a:t>
            </a:r>
            <a:r>
              <a:rPr dirty="0"/>
              <a:t>software?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8054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2773679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5700" y="347345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5700" y="417322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5700" y="487299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4650" y="1681479"/>
            <a:ext cx="7745730" cy="348361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 marR="5080">
              <a:lnSpc>
                <a:spcPct val="83500"/>
              </a:lnSpc>
              <a:spcBef>
                <a:spcPts val="575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The software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should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deliver the required functionality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and 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performance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to the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user and should be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maintainable,  dependable and</a:t>
            </a:r>
            <a:r>
              <a:rPr dirty="0" sz="240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acceptable.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Maintainability</a:t>
            </a:r>
            <a:endParaRPr sz="2400">
              <a:latin typeface="Arial"/>
              <a:cs typeface="Arial"/>
            </a:endParaRPr>
          </a:p>
          <a:p>
            <a:pPr marL="613410" indent="-480059">
              <a:lnSpc>
                <a:spcPct val="100000"/>
              </a:lnSpc>
              <a:spcBef>
                <a:spcPts val="110"/>
              </a:spcBef>
              <a:buChar char="•"/>
              <a:tabLst>
                <a:tab pos="612775" algn="l"/>
                <a:tab pos="613410" algn="l"/>
              </a:tabLst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must evolve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meet changing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needs;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Dependability</a:t>
            </a:r>
            <a:endParaRPr sz="2400">
              <a:latin typeface="Arial"/>
              <a:cs typeface="Arial"/>
            </a:endParaRPr>
          </a:p>
          <a:p>
            <a:pPr marL="613410" indent="-480059">
              <a:lnSpc>
                <a:spcPct val="100000"/>
              </a:lnSpc>
              <a:spcBef>
                <a:spcPts val="110"/>
              </a:spcBef>
              <a:buChar char="•"/>
              <a:tabLst>
                <a:tab pos="612775" algn="l"/>
                <a:tab pos="613410" algn="l"/>
              </a:tabLst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must be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trustworthy;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Efficiency</a:t>
            </a:r>
            <a:endParaRPr sz="2400">
              <a:latin typeface="Arial"/>
              <a:cs typeface="Arial"/>
            </a:endParaRPr>
          </a:p>
          <a:p>
            <a:pPr marL="613410" indent="-480059">
              <a:lnSpc>
                <a:spcPct val="100000"/>
              </a:lnSpc>
              <a:spcBef>
                <a:spcPts val="110"/>
              </a:spcBef>
              <a:buChar char="•"/>
              <a:tabLst>
                <a:tab pos="612775" algn="l"/>
                <a:tab pos="613410" algn="l"/>
              </a:tabLst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should not make wasteful use of system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resources;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Acceptability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65300" y="5153659"/>
            <a:ext cx="7680959" cy="84074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492759" marR="5080" indent="-480059">
              <a:lnSpc>
                <a:spcPts val="2010"/>
              </a:lnSpc>
              <a:spcBef>
                <a:spcPts val="490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must accepted by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users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which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was designed. 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This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means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must be understandable, usable and compatible  with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systems.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57350" y="2196033"/>
            <a:ext cx="1896110" cy="281940"/>
          </a:xfrm>
          <a:custGeom>
            <a:avLst/>
            <a:gdLst/>
            <a:ahLst/>
            <a:cxnLst/>
            <a:rect l="l" t="t" r="r" b="b"/>
            <a:pathLst>
              <a:path w="1896110" h="281939">
                <a:moveTo>
                  <a:pt x="1895855" y="0"/>
                </a:moveTo>
                <a:lnTo>
                  <a:pt x="0" y="0"/>
                </a:lnTo>
                <a:lnTo>
                  <a:pt x="0" y="281939"/>
                </a:lnTo>
                <a:lnTo>
                  <a:pt x="1895855" y="281939"/>
                </a:lnTo>
                <a:lnTo>
                  <a:pt x="1895855" y="0"/>
                </a:lnTo>
                <a:close/>
              </a:path>
            </a:pathLst>
          </a:custGeom>
          <a:solidFill>
            <a:srgbClr val="FFED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-1270" y="0"/>
            <a:ext cx="9909810" cy="1348105"/>
            <a:chOff x="-1270" y="0"/>
            <a:chExt cx="9909810" cy="1348105"/>
          </a:xfrm>
        </p:grpSpPr>
        <p:sp>
          <p:nvSpPr>
            <p:cNvPr id="4" name="object 4"/>
            <p:cNvSpPr/>
            <p:nvPr/>
          </p:nvSpPr>
          <p:spPr>
            <a:xfrm>
              <a:off x="-1270" y="0"/>
              <a:ext cx="9909810" cy="199390"/>
            </a:xfrm>
            <a:custGeom>
              <a:avLst/>
              <a:gdLst/>
              <a:ahLst/>
              <a:cxnLst/>
              <a:rect l="l" t="t" r="r" b="b"/>
              <a:pathLst>
                <a:path w="9909810" h="199390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0" y="199390"/>
                  </a:lnTo>
                  <a:lnTo>
                    <a:pt x="9909810" y="19939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-1270" y="19811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-1270" y="2971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-1270" y="39623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-1270" y="49657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-1270" y="5956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-1270" y="69468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-1270" y="79502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-1270" y="8940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-1270" y="99314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-1270" y="109219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-1270" y="11925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-1270" y="1291590"/>
              <a:ext cx="9909810" cy="55244"/>
            </a:xfrm>
            <a:custGeom>
              <a:avLst/>
              <a:gdLst/>
              <a:ahLst/>
              <a:cxnLst/>
              <a:rect l="l" t="t" r="r" b="b"/>
              <a:pathLst>
                <a:path w="9909810" h="55244">
                  <a:moveTo>
                    <a:pt x="0" y="54671"/>
                  </a:moveTo>
                  <a:lnTo>
                    <a:pt x="9909810" y="54671"/>
                  </a:lnTo>
                  <a:lnTo>
                    <a:pt x="9909810" y="0"/>
                  </a:lnTo>
                  <a:lnTo>
                    <a:pt x="0" y="0"/>
                  </a:lnTo>
                  <a:lnTo>
                    <a:pt x="0" y="54671"/>
                  </a:lnTo>
                  <a:close/>
                </a:path>
              </a:pathLst>
            </a:custGeom>
            <a:solidFill>
              <a:srgbClr val="00007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-1270" y="1346200"/>
            <a:ext cx="9932670" cy="5513070"/>
            <a:chOff x="-1270" y="1346200"/>
            <a:chExt cx="9932670" cy="5513070"/>
          </a:xfrm>
        </p:grpSpPr>
        <p:sp>
          <p:nvSpPr>
            <p:cNvPr id="18" name="object 18"/>
            <p:cNvSpPr/>
            <p:nvPr/>
          </p:nvSpPr>
          <p:spPr>
            <a:xfrm>
              <a:off x="-1270" y="1402018"/>
              <a:ext cx="9909810" cy="89535"/>
            </a:xfrm>
            <a:custGeom>
              <a:avLst/>
              <a:gdLst/>
              <a:ahLst/>
              <a:cxnLst/>
              <a:rect l="l" t="t" r="r" b="b"/>
              <a:pathLst>
                <a:path w="9909810" h="89534">
                  <a:moveTo>
                    <a:pt x="0" y="88961"/>
                  </a:moveTo>
                  <a:lnTo>
                    <a:pt x="9909810" y="88961"/>
                  </a:lnTo>
                  <a:lnTo>
                    <a:pt x="9909810" y="0"/>
                  </a:lnTo>
                  <a:lnTo>
                    <a:pt x="0" y="0"/>
                  </a:lnTo>
                  <a:lnTo>
                    <a:pt x="0" y="88961"/>
                  </a:lnTo>
                  <a:close/>
                </a:path>
              </a:pathLst>
            </a:custGeom>
            <a:solidFill>
              <a:srgbClr val="0000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-1270" y="14909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-1270" y="159004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-1270" y="168910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-1270" y="178815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-1270" y="188849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-1270" y="198755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-1270" y="208660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-1270" y="218566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9909810" y="0"/>
                  </a:moveTo>
                  <a:lnTo>
                    <a:pt x="0" y="0"/>
                  </a:lnTo>
                  <a:lnTo>
                    <a:pt x="0" y="10363"/>
                  </a:lnTo>
                  <a:lnTo>
                    <a:pt x="0" y="100330"/>
                  </a:lnTo>
                  <a:lnTo>
                    <a:pt x="1658620" y="100330"/>
                  </a:lnTo>
                  <a:lnTo>
                    <a:pt x="1658620" y="10363"/>
                  </a:lnTo>
                  <a:lnTo>
                    <a:pt x="3554476" y="10363"/>
                  </a:lnTo>
                  <a:lnTo>
                    <a:pt x="3554476" y="100330"/>
                  </a:lnTo>
                  <a:lnTo>
                    <a:pt x="9909810" y="100330"/>
                  </a:lnTo>
                  <a:lnTo>
                    <a:pt x="9909810" y="10363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-1270" y="228599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65862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658620" y="99060"/>
                  </a:lnTo>
                  <a:lnTo>
                    <a:pt x="165862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3554476" y="0"/>
                  </a:lnTo>
                  <a:lnTo>
                    <a:pt x="3554476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-1270" y="238505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3554476" y="0"/>
                  </a:lnTo>
                  <a:lnTo>
                    <a:pt x="3554476" y="92913"/>
                  </a:lnTo>
                  <a:lnTo>
                    <a:pt x="1658620" y="92913"/>
                  </a:lnTo>
                  <a:lnTo>
                    <a:pt x="1658620" y="0"/>
                  </a:lnTo>
                  <a:lnTo>
                    <a:pt x="0" y="0"/>
                  </a:lnTo>
                  <a:lnTo>
                    <a:pt x="0" y="92913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92913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-1270" y="248411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-1270" y="2584449"/>
              <a:ext cx="9909810" cy="198120"/>
            </a:xfrm>
            <a:custGeom>
              <a:avLst/>
              <a:gdLst/>
              <a:ahLst/>
              <a:cxnLst/>
              <a:rect l="l" t="t" r="r" b="b"/>
              <a:pathLst>
                <a:path w="9909810" h="19811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0" y="198120"/>
                  </a:lnTo>
                  <a:lnTo>
                    <a:pt x="9909810" y="19812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-1270" y="278256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-1270" y="2881630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-1270" y="298196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-1270" y="308102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-1270" y="318007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-1270" y="328041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-1270" y="337947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-1270" y="34785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-1270" y="357758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-1270" y="367792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-1270" y="37769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-1270" y="387603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-1270" y="397637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-1270" y="40754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-1270" y="417448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-1270" y="4273550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-1270" y="43738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-1270" y="447293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-1270" y="4572000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-1270" y="46723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-1270" y="477139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-1270" y="487045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-1270" y="496950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-1270" y="506984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-1270" y="516890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-1270" y="526795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-1270" y="5367020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-1270" y="546735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-1270" y="556640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-1270" y="5665470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-1270" y="576580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-1270" y="586485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-1270" y="596392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-1270" y="606297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-1270" y="616330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-1270" y="626237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-1270" y="636142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-1270" y="646175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-1270" y="656082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-1270" y="66598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-1270" y="6758940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6670" y="1371600"/>
              <a:ext cx="9879330" cy="5080"/>
            </a:xfrm>
            <a:custGeom>
              <a:avLst/>
              <a:gdLst/>
              <a:ahLst/>
              <a:cxnLst/>
              <a:rect l="l" t="t" r="r" b="b"/>
              <a:pathLst>
                <a:path w="9879330" h="5080">
                  <a:moveTo>
                    <a:pt x="0" y="0"/>
                  </a:moveTo>
                  <a:lnTo>
                    <a:pt x="9879330" y="5079"/>
                  </a:lnTo>
                </a:path>
              </a:pathLst>
            </a:custGeom>
            <a:ln w="50676">
              <a:solidFill>
                <a:srgbClr val="FB00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975" rIns="0" bIns="0" rtlCol="0" vert="horz">
            <a:spAutoFit/>
          </a:bodyPr>
          <a:lstStyle/>
          <a:p>
            <a:pPr marL="2832100" marR="5080" indent="-2819400">
              <a:lnSpc>
                <a:spcPts val="3590"/>
              </a:lnSpc>
              <a:spcBef>
                <a:spcPts val="425"/>
              </a:spcBef>
            </a:pPr>
            <a:r>
              <a:rPr dirty="0"/>
              <a:t>What are the key challenges facing software  engineering?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1155700" y="178054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644650" y="1681479"/>
            <a:ext cx="44977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Heterogeneity, delivery and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trust.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155700" y="2195829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644650" y="2096770"/>
            <a:ext cx="19215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Heterogeneity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765300" y="2505709"/>
            <a:ext cx="7553325" cy="61341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92759" marR="5080" indent="-480059">
              <a:lnSpc>
                <a:spcPts val="2230"/>
              </a:lnSpc>
              <a:spcBef>
                <a:spcPts val="315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Developing techniques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building software that 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cope with  heterogeneous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platforms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 execution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environments;</a:t>
            </a:r>
            <a:endParaRPr sz="20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155700" y="3242309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644650" y="3092957"/>
            <a:ext cx="7574280" cy="78867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2400">
              <a:latin typeface="Arial"/>
              <a:cs typeface="Arial"/>
            </a:endParaRPr>
          </a:p>
          <a:p>
            <a:pPr marL="613410" indent="-480059">
              <a:lnSpc>
                <a:spcPct val="100000"/>
              </a:lnSpc>
              <a:spcBef>
                <a:spcPts val="330"/>
              </a:spcBef>
              <a:buChar char="•"/>
              <a:tabLst>
                <a:tab pos="612775" algn="l"/>
                <a:tab pos="613410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Developing techniques that lead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faster delivery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0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software;</a:t>
            </a:r>
            <a:endParaRPr sz="20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155700" y="4004309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644650" y="3905250"/>
            <a:ext cx="720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1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765300" y="4314190"/>
            <a:ext cx="7425055" cy="61341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92759" marR="5080" indent="-480059">
              <a:lnSpc>
                <a:spcPts val="2230"/>
              </a:lnSpc>
              <a:spcBef>
                <a:spcPts val="315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Developing techniques that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demonstrate that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be  trusted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by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its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 users.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3844980" y="2348547"/>
            <a:ext cx="227757" cy="2023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7620000" y="2326957"/>
            <a:ext cx="2286000" cy="1524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Mas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i="1">
                <a:latin typeface="Arial"/>
                <a:cs typeface="Arial"/>
              </a:rPr>
              <a:t>2018-10-01</a:t>
            </a:r>
            <a:r>
              <a:rPr dirty="0" sz="800" spc="-5" i="1">
                <a:latin typeface="Arial"/>
                <a:cs typeface="Arial"/>
              </a:rPr>
              <a:t> </a:t>
            </a:r>
            <a:r>
              <a:rPr dirty="0" sz="800" i="1">
                <a:latin typeface="Arial"/>
                <a:cs typeface="Arial"/>
              </a:rPr>
              <a:t>19:42:01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>
                <a:latin typeface="Arial"/>
                <a:cs typeface="Arial"/>
              </a:rPr>
              <a:t>--------------------------------------------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dirty="0" sz="1000">
                <a:latin typeface="Arial"/>
                <a:cs typeface="Arial"/>
              </a:rPr>
              <a:t>عدم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تجانس </a:t>
            </a:r>
            <a:endParaRPr sz="1000">
              <a:latin typeface="Arial"/>
              <a:cs typeface="Arial"/>
            </a:endParaRPr>
          </a:p>
        </p:txBody>
      </p:sp>
      <p:sp>
        <p:nvSpPr>
          <p:cNvPr id="86" name="object 8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87" name="object 8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88" name="object 8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6119" y="417829"/>
            <a:ext cx="849693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47360" algn="l"/>
              </a:tabLst>
            </a:pPr>
            <a:r>
              <a:rPr dirty="0" sz="4000" spc="-5"/>
              <a:t>Professional</a:t>
            </a:r>
            <a:r>
              <a:rPr dirty="0" sz="4000" spc="25"/>
              <a:t> </a:t>
            </a:r>
            <a:r>
              <a:rPr dirty="0" sz="4000" spc="-5"/>
              <a:t>and</a:t>
            </a:r>
            <a:r>
              <a:rPr dirty="0" sz="4000" spc="25"/>
              <a:t> </a:t>
            </a:r>
            <a:r>
              <a:rPr dirty="0" sz="4000" spc="-5"/>
              <a:t>ethical	responsibility</a:t>
            </a:r>
            <a:endParaRPr sz="40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9070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306832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5700" y="434594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4650" y="1676400"/>
            <a:ext cx="7569200" cy="340360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 marR="515620">
              <a:lnSpc>
                <a:spcPts val="3120"/>
              </a:lnSpc>
              <a:spcBef>
                <a:spcPts val="405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engineering involves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wider 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responsibilities than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simply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the application of  technical</a:t>
            </a:r>
            <a:r>
              <a:rPr dirty="0" sz="28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skills.</a:t>
            </a:r>
            <a:endParaRPr sz="2800">
              <a:latin typeface="Arial"/>
              <a:cs typeface="Arial"/>
            </a:endParaRPr>
          </a:p>
          <a:p>
            <a:pPr algn="just" marL="12700" marR="301625">
              <a:lnSpc>
                <a:spcPts val="3120"/>
              </a:lnSpc>
              <a:spcBef>
                <a:spcPts val="700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engineers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must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behave in an honest  and ethically responsible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way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if they are to be  respected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280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professionals.</a:t>
            </a:r>
            <a:endParaRPr sz="2800">
              <a:latin typeface="Arial"/>
              <a:cs typeface="Arial"/>
            </a:endParaRPr>
          </a:p>
          <a:p>
            <a:pPr algn="just" marL="12700" marR="5080">
              <a:lnSpc>
                <a:spcPts val="3120"/>
              </a:lnSpc>
              <a:spcBef>
                <a:spcPts val="695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Ethical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behaviour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more than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simply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upholding  the 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law.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57350" y="1785823"/>
            <a:ext cx="2236470" cy="333375"/>
          </a:xfrm>
          <a:custGeom>
            <a:avLst/>
            <a:gdLst/>
            <a:ahLst/>
            <a:cxnLst/>
            <a:rect l="l" t="t" r="r" b="b"/>
            <a:pathLst>
              <a:path w="2236470" h="333375">
                <a:moveTo>
                  <a:pt x="2236012" y="0"/>
                </a:moveTo>
                <a:lnTo>
                  <a:pt x="0" y="0"/>
                </a:lnTo>
                <a:lnTo>
                  <a:pt x="0" y="333197"/>
                </a:lnTo>
                <a:lnTo>
                  <a:pt x="2236012" y="333197"/>
                </a:lnTo>
                <a:lnTo>
                  <a:pt x="2236012" y="0"/>
                </a:lnTo>
                <a:close/>
              </a:path>
            </a:pathLst>
          </a:custGeom>
          <a:solidFill>
            <a:srgbClr val="FFE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68400" y="3529533"/>
            <a:ext cx="2506980" cy="329565"/>
          </a:xfrm>
          <a:custGeom>
            <a:avLst/>
            <a:gdLst/>
            <a:ahLst/>
            <a:cxnLst/>
            <a:rect l="l" t="t" r="r" b="b"/>
            <a:pathLst>
              <a:path w="2506979" h="329564">
                <a:moveTo>
                  <a:pt x="2506624" y="0"/>
                </a:moveTo>
                <a:lnTo>
                  <a:pt x="0" y="0"/>
                </a:lnTo>
                <a:lnTo>
                  <a:pt x="0" y="329285"/>
                </a:lnTo>
                <a:lnTo>
                  <a:pt x="2506624" y="329285"/>
                </a:lnTo>
                <a:lnTo>
                  <a:pt x="2506624" y="0"/>
                </a:lnTo>
                <a:close/>
              </a:path>
            </a:pathLst>
          </a:custGeom>
          <a:solidFill>
            <a:srgbClr val="FFED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-1270" y="0"/>
            <a:ext cx="9909810" cy="1348105"/>
            <a:chOff x="-1270" y="0"/>
            <a:chExt cx="9909810" cy="1348105"/>
          </a:xfrm>
        </p:grpSpPr>
        <p:sp>
          <p:nvSpPr>
            <p:cNvPr id="5" name="object 5"/>
            <p:cNvSpPr/>
            <p:nvPr/>
          </p:nvSpPr>
          <p:spPr>
            <a:xfrm>
              <a:off x="-1270" y="0"/>
              <a:ext cx="9909810" cy="199390"/>
            </a:xfrm>
            <a:custGeom>
              <a:avLst/>
              <a:gdLst/>
              <a:ahLst/>
              <a:cxnLst/>
              <a:rect l="l" t="t" r="r" b="b"/>
              <a:pathLst>
                <a:path w="9909810" h="199390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0" y="199390"/>
                  </a:lnTo>
                  <a:lnTo>
                    <a:pt x="9909810" y="19939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-1270" y="19811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-1270" y="2971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-1270" y="39623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-1270" y="49657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-1270" y="5956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-1270" y="69468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-1270" y="79502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-1270" y="8940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-1270" y="99314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-1270" y="109219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-1270" y="11925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-1270" y="1291590"/>
              <a:ext cx="9909810" cy="55244"/>
            </a:xfrm>
            <a:custGeom>
              <a:avLst/>
              <a:gdLst/>
              <a:ahLst/>
              <a:cxnLst/>
              <a:rect l="l" t="t" r="r" b="b"/>
              <a:pathLst>
                <a:path w="9909810" h="55244">
                  <a:moveTo>
                    <a:pt x="0" y="54671"/>
                  </a:moveTo>
                  <a:lnTo>
                    <a:pt x="9909810" y="54671"/>
                  </a:lnTo>
                  <a:lnTo>
                    <a:pt x="9909810" y="0"/>
                  </a:lnTo>
                  <a:lnTo>
                    <a:pt x="0" y="0"/>
                  </a:lnTo>
                  <a:lnTo>
                    <a:pt x="0" y="54671"/>
                  </a:lnTo>
                  <a:close/>
                </a:path>
              </a:pathLst>
            </a:custGeom>
            <a:solidFill>
              <a:srgbClr val="00007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-1270" y="1402018"/>
            <a:ext cx="9909810" cy="287655"/>
            <a:chOff x="-1270" y="1402018"/>
            <a:chExt cx="9909810" cy="287655"/>
          </a:xfrm>
        </p:grpSpPr>
        <p:sp>
          <p:nvSpPr>
            <p:cNvPr id="19" name="object 19"/>
            <p:cNvSpPr/>
            <p:nvPr/>
          </p:nvSpPr>
          <p:spPr>
            <a:xfrm>
              <a:off x="-1270" y="1402018"/>
              <a:ext cx="9909810" cy="89535"/>
            </a:xfrm>
            <a:custGeom>
              <a:avLst/>
              <a:gdLst/>
              <a:ahLst/>
              <a:cxnLst/>
              <a:rect l="l" t="t" r="r" b="b"/>
              <a:pathLst>
                <a:path w="9909810" h="89534">
                  <a:moveTo>
                    <a:pt x="0" y="88961"/>
                  </a:moveTo>
                  <a:lnTo>
                    <a:pt x="9909810" y="88961"/>
                  </a:lnTo>
                  <a:lnTo>
                    <a:pt x="9909810" y="0"/>
                  </a:lnTo>
                  <a:lnTo>
                    <a:pt x="0" y="0"/>
                  </a:lnTo>
                  <a:lnTo>
                    <a:pt x="0" y="88961"/>
                  </a:lnTo>
                  <a:close/>
                </a:path>
              </a:pathLst>
            </a:custGeom>
            <a:solidFill>
              <a:srgbClr val="0000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-1270" y="14909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-1270" y="159003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/>
          <p:nvPr/>
        </p:nvSpPr>
        <p:spPr>
          <a:xfrm>
            <a:off x="-1270" y="1785823"/>
            <a:ext cx="1658620" cy="2540"/>
          </a:xfrm>
          <a:custGeom>
            <a:avLst/>
            <a:gdLst/>
            <a:ahLst/>
            <a:cxnLst/>
            <a:rect l="l" t="t" r="r" b="b"/>
            <a:pathLst>
              <a:path w="1658620" h="2539">
                <a:moveTo>
                  <a:pt x="0" y="2336"/>
                </a:moveTo>
                <a:lnTo>
                  <a:pt x="1658620" y="2336"/>
                </a:lnTo>
                <a:lnTo>
                  <a:pt x="1658620" y="0"/>
                </a:lnTo>
                <a:lnTo>
                  <a:pt x="0" y="0"/>
                </a:lnTo>
                <a:lnTo>
                  <a:pt x="0" y="2336"/>
                </a:lnTo>
                <a:close/>
              </a:path>
            </a:pathLst>
          </a:custGeom>
          <a:solidFill>
            <a:srgbClr val="00006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/>
          <p:cNvGrpSpPr/>
          <p:nvPr/>
        </p:nvGrpSpPr>
        <p:grpSpPr>
          <a:xfrm>
            <a:off x="-1270" y="1689100"/>
            <a:ext cx="9909810" cy="1789430"/>
            <a:chOff x="-1270" y="1689100"/>
            <a:chExt cx="9909810" cy="1789430"/>
          </a:xfrm>
        </p:grpSpPr>
        <p:sp>
          <p:nvSpPr>
            <p:cNvPr id="24" name="object 24"/>
            <p:cNvSpPr/>
            <p:nvPr/>
          </p:nvSpPr>
          <p:spPr>
            <a:xfrm>
              <a:off x="-1270" y="168909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6723"/>
                  </a:lnTo>
                  <a:lnTo>
                    <a:pt x="3894632" y="96723"/>
                  </a:lnTo>
                  <a:lnTo>
                    <a:pt x="3894632" y="99060"/>
                  </a:lnTo>
                  <a:lnTo>
                    <a:pt x="9909810" y="99060"/>
                  </a:lnTo>
                  <a:lnTo>
                    <a:pt x="9909810" y="96723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-1270" y="178815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165862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1658620" y="100330"/>
                  </a:lnTo>
                  <a:lnTo>
                    <a:pt x="1658620" y="0"/>
                  </a:lnTo>
                  <a:close/>
                </a:path>
                <a:path w="9909810" h="100330">
                  <a:moveTo>
                    <a:pt x="9909810" y="0"/>
                  </a:moveTo>
                  <a:lnTo>
                    <a:pt x="3894632" y="0"/>
                  </a:lnTo>
                  <a:lnTo>
                    <a:pt x="3894632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-1270" y="188848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65862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658620" y="99060"/>
                  </a:lnTo>
                  <a:lnTo>
                    <a:pt x="165862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3894632" y="0"/>
                  </a:lnTo>
                  <a:lnTo>
                    <a:pt x="3894632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-1270" y="198754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65862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658620" y="99060"/>
                  </a:lnTo>
                  <a:lnTo>
                    <a:pt x="165862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3894632" y="0"/>
                  </a:lnTo>
                  <a:lnTo>
                    <a:pt x="3894632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-1270" y="208660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3894632" y="0"/>
                  </a:lnTo>
                  <a:lnTo>
                    <a:pt x="3894632" y="32410"/>
                  </a:lnTo>
                  <a:lnTo>
                    <a:pt x="1658620" y="32410"/>
                  </a:lnTo>
                  <a:lnTo>
                    <a:pt x="1658620" y="0"/>
                  </a:lnTo>
                  <a:lnTo>
                    <a:pt x="0" y="0"/>
                  </a:lnTo>
                  <a:lnTo>
                    <a:pt x="0" y="3241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3241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-1270" y="218566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-1270" y="228600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-1270" y="238505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-1270" y="248411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-1270" y="2584449"/>
              <a:ext cx="9909810" cy="198120"/>
            </a:xfrm>
            <a:custGeom>
              <a:avLst/>
              <a:gdLst/>
              <a:ahLst/>
              <a:cxnLst/>
              <a:rect l="l" t="t" r="r" b="b"/>
              <a:pathLst>
                <a:path w="9909810" h="19811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0" y="198120"/>
                  </a:lnTo>
                  <a:lnTo>
                    <a:pt x="9909810" y="19812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-1270" y="278256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-1270" y="2881630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-1270" y="298196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-1270" y="308101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-1270" y="3180080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-1270" y="328041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-1270" y="337947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" name="object 41"/>
          <p:cNvGrpSpPr/>
          <p:nvPr/>
        </p:nvGrpSpPr>
        <p:grpSpPr>
          <a:xfrm>
            <a:off x="-1270" y="3478529"/>
            <a:ext cx="9909810" cy="3380740"/>
            <a:chOff x="-1270" y="3478529"/>
            <a:chExt cx="9909810" cy="3380740"/>
          </a:xfrm>
        </p:grpSpPr>
        <p:sp>
          <p:nvSpPr>
            <p:cNvPr id="42" name="object 42"/>
            <p:cNvSpPr/>
            <p:nvPr/>
          </p:nvSpPr>
          <p:spPr>
            <a:xfrm>
              <a:off x="-1270" y="34785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51003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51003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-1270" y="357758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116967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1169670" y="100330"/>
                  </a:lnTo>
                  <a:lnTo>
                    <a:pt x="1169670" y="0"/>
                  </a:lnTo>
                  <a:close/>
                </a:path>
                <a:path w="9909810" h="100329">
                  <a:moveTo>
                    <a:pt x="9909810" y="0"/>
                  </a:moveTo>
                  <a:lnTo>
                    <a:pt x="3676294" y="0"/>
                  </a:lnTo>
                  <a:lnTo>
                    <a:pt x="3676294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-1270" y="367791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1696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169670" y="99060"/>
                  </a:lnTo>
                  <a:lnTo>
                    <a:pt x="11696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3676294" y="0"/>
                  </a:lnTo>
                  <a:lnTo>
                    <a:pt x="3676294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-1270" y="37769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81838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81838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-1270" y="387603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-1270" y="397636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-1270" y="40754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-1270" y="417448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-1270" y="427354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-1270" y="43738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-1270" y="447293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-1270" y="457199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-1270" y="46723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-1270" y="477138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-1270" y="487044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-1270" y="496950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-1270" y="506983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-1270" y="516890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-1270" y="526795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-1270" y="536701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-1270" y="546735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-1270" y="556640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-1270" y="566546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-1270" y="576580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-1270" y="586485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-1270" y="596391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-1270" y="606297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-1270" y="616330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-1270" y="626236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-1270" y="636142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-1270" y="646175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-1270" y="656081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-1270" y="66598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-1270" y="675893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/>
          <p:nvPr/>
        </p:nvSpPr>
        <p:spPr>
          <a:xfrm>
            <a:off x="26669" y="1371600"/>
            <a:ext cx="9879330" cy="5080"/>
          </a:xfrm>
          <a:custGeom>
            <a:avLst/>
            <a:gdLst/>
            <a:ahLst/>
            <a:cxnLst/>
            <a:rect l="l" t="t" r="r" b="b"/>
            <a:pathLst>
              <a:path w="9879330" h="5080">
                <a:moveTo>
                  <a:pt x="0" y="0"/>
                </a:moveTo>
                <a:lnTo>
                  <a:pt x="9879330" y="5079"/>
                </a:lnTo>
              </a:path>
            </a:pathLst>
          </a:custGeom>
          <a:ln w="50676">
            <a:solidFill>
              <a:srgbClr val="FB00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>
            <a:spLocks noGrp="1"/>
          </p:cNvSpPr>
          <p:nvPr>
            <p:ph type="title"/>
          </p:nvPr>
        </p:nvSpPr>
        <p:spPr>
          <a:xfrm>
            <a:off x="944880" y="419100"/>
            <a:ext cx="801814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Issues </a:t>
            </a:r>
            <a:r>
              <a:rPr dirty="0" sz="4000" spc="-5"/>
              <a:t>of professional</a:t>
            </a:r>
            <a:r>
              <a:rPr dirty="0" sz="4000" spc="15"/>
              <a:t> </a:t>
            </a:r>
            <a:r>
              <a:rPr dirty="0" sz="4000" spc="-5"/>
              <a:t>responsibility</a:t>
            </a:r>
            <a:endParaRPr sz="4000"/>
          </a:p>
        </p:txBody>
      </p:sp>
      <p:sp>
        <p:nvSpPr>
          <p:cNvPr id="86" name="object 8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87" name="object 8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88" name="object 8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78" name="object 78"/>
          <p:cNvSpPr txBox="1"/>
          <p:nvPr/>
        </p:nvSpPr>
        <p:spPr>
          <a:xfrm>
            <a:off x="1155700" y="179070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644650" y="1676400"/>
            <a:ext cx="22618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Confidentiality</a:t>
            </a:r>
            <a:endParaRPr sz="28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765300" y="2119629"/>
            <a:ext cx="7615555" cy="130810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492759" marR="5080" indent="-480059">
              <a:lnSpc>
                <a:spcPct val="83600"/>
              </a:lnSpc>
              <a:spcBef>
                <a:spcPts val="570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Engineers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should normally respect the confidentiality  of their employers or clients irrespective of whether  or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not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formal confidentiality agreement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has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been 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signed.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155700" y="3534409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644650" y="3420109"/>
            <a:ext cx="20434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Competence</a:t>
            </a:r>
            <a:endParaRPr sz="28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765300" y="3863340"/>
            <a:ext cx="7632700" cy="100203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492759" marR="5080" indent="-480059">
              <a:lnSpc>
                <a:spcPct val="83500"/>
              </a:lnSpc>
              <a:spcBef>
                <a:spcPts val="575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Engineers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should not misrepresent their level of  competence. They should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not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knowingly accept work 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which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is outwith their</a:t>
            </a:r>
            <a:r>
              <a:rPr dirty="0" sz="24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competence.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620000" y="1789379"/>
            <a:ext cx="2286000" cy="1524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Mas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i="1">
                <a:latin typeface="Arial"/>
                <a:cs typeface="Arial"/>
              </a:rPr>
              <a:t>2018-10-01</a:t>
            </a:r>
            <a:r>
              <a:rPr dirty="0" sz="800" spc="-5" i="1">
                <a:latin typeface="Arial"/>
                <a:cs typeface="Arial"/>
              </a:rPr>
              <a:t> </a:t>
            </a:r>
            <a:r>
              <a:rPr dirty="0" sz="800" i="1">
                <a:latin typeface="Arial"/>
                <a:cs typeface="Arial"/>
              </a:rPr>
              <a:t>19:46:30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>
                <a:latin typeface="Arial"/>
                <a:cs typeface="Arial"/>
              </a:rPr>
              <a:t>--------------------------------------------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dirty="0" sz="1000">
                <a:latin typeface="Arial"/>
                <a:cs typeface="Arial"/>
              </a:rPr>
              <a:t>سريه</a:t>
            </a:r>
            <a:endParaRPr sz="10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620000" y="3532682"/>
            <a:ext cx="2286000" cy="1524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Mas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i="1">
                <a:latin typeface="Arial"/>
                <a:cs typeface="Arial"/>
              </a:rPr>
              <a:t>2018-10-01</a:t>
            </a:r>
            <a:r>
              <a:rPr dirty="0" sz="800" spc="-5" i="1">
                <a:latin typeface="Arial"/>
                <a:cs typeface="Arial"/>
              </a:rPr>
              <a:t> </a:t>
            </a:r>
            <a:r>
              <a:rPr dirty="0" sz="800" i="1">
                <a:latin typeface="Arial"/>
                <a:cs typeface="Arial"/>
              </a:rPr>
              <a:t>19:47:40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>
                <a:latin typeface="Arial"/>
                <a:cs typeface="Arial"/>
              </a:rPr>
              <a:t>--------------------------------------------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dirty="0" sz="1000">
                <a:latin typeface="Arial"/>
                <a:cs typeface="Arial"/>
              </a:rPr>
              <a:t>مهاره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dirty="0" sz="1000" spc="1695">
                <a:latin typeface="Arial"/>
                <a:cs typeface="Arial"/>
              </a:rPr>
              <a:t>
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8400" y="3389985"/>
            <a:ext cx="2877185" cy="282575"/>
          </a:xfrm>
          <a:custGeom>
            <a:avLst/>
            <a:gdLst/>
            <a:ahLst/>
            <a:cxnLst/>
            <a:rect l="l" t="t" r="r" b="b"/>
            <a:pathLst>
              <a:path w="2877185" h="282575">
                <a:moveTo>
                  <a:pt x="2876753" y="0"/>
                </a:moveTo>
                <a:lnTo>
                  <a:pt x="0" y="0"/>
                </a:lnTo>
                <a:lnTo>
                  <a:pt x="0" y="282244"/>
                </a:lnTo>
                <a:lnTo>
                  <a:pt x="2876753" y="282244"/>
                </a:lnTo>
                <a:lnTo>
                  <a:pt x="2876753" y="0"/>
                </a:lnTo>
                <a:close/>
              </a:path>
            </a:pathLst>
          </a:custGeom>
          <a:solidFill>
            <a:srgbClr val="FFE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68400" y="1780743"/>
            <a:ext cx="3978910" cy="281940"/>
          </a:xfrm>
          <a:custGeom>
            <a:avLst/>
            <a:gdLst/>
            <a:ahLst/>
            <a:cxnLst/>
            <a:rect l="l" t="t" r="r" b="b"/>
            <a:pathLst>
              <a:path w="3978910" h="281939">
                <a:moveTo>
                  <a:pt x="3978300" y="0"/>
                </a:moveTo>
                <a:lnTo>
                  <a:pt x="0" y="0"/>
                </a:lnTo>
                <a:lnTo>
                  <a:pt x="0" y="281939"/>
                </a:lnTo>
                <a:lnTo>
                  <a:pt x="3978300" y="281939"/>
                </a:lnTo>
                <a:lnTo>
                  <a:pt x="3978300" y="0"/>
                </a:lnTo>
                <a:close/>
              </a:path>
            </a:pathLst>
          </a:custGeom>
          <a:solidFill>
            <a:srgbClr val="FFED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-1270" y="0"/>
            <a:ext cx="9909810" cy="1348105"/>
            <a:chOff x="-1270" y="0"/>
            <a:chExt cx="9909810" cy="1348105"/>
          </a:xfrm>
        </p:grpSpPr>
        <p:sp>
          <p:nvSpPr>
            <p:cNvPr id="5" name="object 5"/>
            <p:cNvSpPr/>
            <p:nvPr/>
          </p:nvSpPr>
          <p:spPr>
            <a:xfrm>
              <a:off x="-1270" y="0"/>
              <a:ext cx="9909810" cy="199390"/>
            </a:xfrm>
            <a:custGeom>
              <a:avLst/>
              <a:gdLst/>
              <a:ahLst/>
              <a:cxnLst/>
              <a:rect l="l" t="t" r="r" b="b"/>
              <a:pathLst>
                <a:path w="9909810" h="199390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0" y="199390"/>
                  </a:lnTo>
                  <a:lnTo>
                    <a:pt x="9909810" y="19939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-1270" y="19811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-1270" y="2971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-1270" y="39623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-1270" y="49657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-1270" y="5956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-1270" y="69468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-1270" y="79502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-1270" y="8940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-1270" y="99314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-1270" y="109219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-1270" y="11925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-1270" y="1291590"/>
              <a:ext cx="9909810" cy="55244"/>
            </a:xfrm>
            <a:custGeom>
              <a:avLst/>
              <a:gdLst/>
              <a:ahLst/>
              <a:cxnLst/>
              <a:rect l="l" t="t" r="r" b="b"/>
              <a:pathLst>
                <a:path w="9909810" h="55244">
                  <a:moveTo>
                    <a:pt x="0" y="54671"/>
                  </a:moveTo>
                  <a:lnTo>
                    <a:pt x="9909810" y="54671"/>
                  </a:lnTo>
                  <a:lnTo>
                    <a:pt x="9909810" y="0"/>
                  </a:lnTo>
                  <a:lnTo>
                    <a:pt x="0" y="0"/>
                  </a:lnTo>
                  <a:lnTo>
                    <a:pt x="0" y="54671"/>
                  </a:lnTo>
                  <a:close/>
                </a:path>
              </a:pathLst>
            </a:custGeom>
            <a:solidFill>
              <a:srgbClr val="00007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-1270" y="1402018"/>
            <a:ext cx="9909810" cy="287655"/>
            <a:chOff x="-1270" y="1402018"/>
            <a:chExt cx="9909810" cy="287655"/>
          </a:xfrm>
        </p:grpSpPr>
        <p:sp>
          <p:nvSpPr>
            <p:cNvPr id="19" name="object 19"/>
            <p:cNvSpPr/>
            <p:nvPr/>
          </p:nvSpPr>
          <p:spPr>
            <a:xfrm>
              <a:off x="-1270" y="1402018"/>
              <a:ext cx="9909810" cy="89535"/>
            </a:xfrm>
            <a:custGeom>
              <a:avLst/>
              <a:gdLst/>
              <a:ahLst/>
              <a:cxnLst/>
              <a:rect l="l" t="t" r="r" b="b"/>
              <a:pathLst>
                <a:path w="9909810" h="89534">
                  <a:moveTo>
                    <a:pt x="0" y="88961"/>
                  </a:moveTo>
                  <a:lnTo>
                    <a:pt x="9909810" y="88961"/>
                  </a:lnTo>
                  <a:lnTo>
                    <a:pt x="9909810" y="0"/>
                  </a:lnTo>
                  <a:lnTo>
                    <a:pt x="0" y="0"/>
                  </a:lnTo>
                  <a:lnTo>
                    <a:pt x="0" y="88961"/>
                  </a:lnTo>
                  <a:close/>
                </a:path>
              </a:pathLst>
            </a:custGeom>
            <a:solidFill>
              <a:srgbClr val="0000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-1270" y="14909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-1270" y="159003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7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-1270" y="1689100"/>
            <a:ext cx="9909810" cy="5170170"/>
            <a:chOff x="-1270" y="1689100"/>
            <a:chExt cx="9909810" cy="5170170"/>
          </a:xfrm>
        </p:grpSpPr>
        <p:sp>
          <p:nvSpPr>
            <p:cNvPr id="23" name="object 23"/>
            <p:cNvSpPr/>
            <p:nvPr/>
          </p:nvSpPr>
          <p:spPr>
            <a:xfrm>
              <a:off x="-1270" y="168909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1643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91643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-1270" y="178815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116967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1169670" y="100330"/>
                  </a:lnTo>
                  <a:lnTo>
                    <a:pt x="1169670" y="0"/>
                  </a:lnTo>
                  <a:close/>
                </a:path>
                <a:path w="9909810" h="100330">
                  <a:moveTo>
                    <a:pt x="9909810" y="0"/>
                  </a:moveTo>
                  <a:lnTo>
                    <a:pt x="5147970" y="0"/>
                  </a:lnTo>
                  <a:lnTo>
                    <a:pt x="514797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-1270" y="188848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1696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169670" y="99060"/>
                  </a:lnTo>
                  <a:lnTo>
                    <a:pt x="11696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5147970" y="0"/>
                  </a:lnTo>
                  <a:lnTo>
                    <a:pt x="514797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-1270" y="198754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75133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75133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-1270" y="208660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-1270" y="218566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-1270" y="228600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-1270" y="238505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-1270" y="248411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-1270" y="2584449"/>
              <a:ext cx="9909810" cy="198120"/>
            </a:xfrm>
            <a:custGeom>
              <a:avLst/>
              <a:gdLst/>
              <a:ahLst/>
              <a:cxnLst/>
              <a:rect l="l" t="t" r="r" b="b"/>
              <a:pathLst>
                <a:path w="9909810" h="19811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0" y="198120"/>
                  </a:lnTo>
                  <a:lnTo>
                    <a:pt x="9909810" y="19812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-1270" y="278256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-1270" y="2881630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30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-1270" y="298196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-1270" y="308101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-1270" y="3180080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-1270" y="328041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-1270" y="337946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10515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10515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-1270" y="34785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116967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1169670" y="99060"/>
                  </a:lnTo>
                  <a:lnTo>
                    <a:pt x="1169670" y="0"/>
                  </a:lnTo>
                  <a:close/>
                </a:path>
                <a:path w="9909810" h="99060">
                  <a:moveTo>
                    <a:pt x="9909810" y="0"/>
                  </a:moveTo>
                  <a:lnTo>
                    <a:pt x="4046423" y="0"/>
                  </a:lnTo>
                  <a:lnTo>
                    <a:pt x="4046423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-1270" y="357758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9464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9464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-1270" y="367792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-1270" y="37769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-1270" y="387603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-1270" y="397637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-1270" y="40754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-1270" y="417448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-1270" y="4273550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-1270" y="43738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-1270" y="447293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-1270" y="4572000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-1270" y="467232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-1270" y="477138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-1270" y="487045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-1270" y="496950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-1270" y="506984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-1270" y="516890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-1270" y="526795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-1270" y="5367020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-1270" y="546735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-1270" y="556640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-1270" y="5665470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-1270" y="576580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-1270" y="586485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-1270" y="596392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-1270" y="606297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-1270" y="616330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-1270" y="626237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60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-1270" y="6361429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30"/>
                  </a:lnTo>
                  <a:lnTo>
                    <a:pt x="9909810" y="10033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-1270" y="646175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-1270" y="6560820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59"/>
                  </a:lnTo>
                  <a:lnTo>
                    <a:pt x="9909810" y="9905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-1270" y="6659879"/>
              <a:ext cx="9909810" cy="99060"/>
            </a:xfrm>
            <a:custGeom>
              <a:avLst/>
              <a:gdLst/>
              <a:ahLst/>
              <a:cxnLst/>
              <a:rect l="l" t="t" r="r" b="b"/>
              <a:pathLst>
                <a:path w="9909810" h="99059">
                  <a:moveTo>
                    <a:pt x="9909810" y="0"/>
                  </a:moveTo>
                  <a:lnTo>
                    <a:pt x="0" y="0"/>
                  </a:lnTo>
                  <a:lnTo>
                    <a:pt x="0" y="99060"/>
                  </a:lnTo>
                  <a:lnTo>
                    <a:pt x="9909810" y="99060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-1270" y="6758940"/>
              <a:ext cx="9909810" cy="100330"/>
            </a:xfrm>
            <a:custGeom>
              <a:avLst/>
              <a:gdLst/>
              <a:ahLst/>
              <a:cxnLst/>
              <a:rect l="l" t="t" r="r" b="b"/>
              <a:pathLst>
                <a:path w="9909810" h="100329">
                  <a:moveTo>
                    <a:pt x="9909810" y="0"/>
                  </a:moveTo>
                  <a:lnTo>
                    <a:pt x="0" y="0"/>
                  </a:lnTo>
                  <a:lnTo>
                    <a:pt x="0" y="100329"/>
                  </a:lnTo>
                  <a:lnTo>
                    <a:pt x="9909810" y="100329"/>
                  </a:lnTo>
                  <a:lnTo>
                    <a:pt x="9909810" y="0"/>
                  </a:lnTo>
                  <a:close/>
                </a:path>
              </a:pathLst>
            </a:custGeom>
            <a:solidFill>
              <a:srgbClr val="0000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/>
          <p:cNvSpPr/>
          <p:nvPr/>
        </p:nvSpPr>
        <p:spPr>
          <a:xfrm>
            <a:off x="26669" y="1371600"/>
            <a:ext cx="9879330" cy="5080"/>
          </a:xfrm>
          <a:custGeom>
            <a:avLst/>
            <a:gdLst/>
            <a:ahLst/>
            <a:cxnLst/>
            <a:rect l="l" t="t" r="r" b="b"/>
            <a:pathLst>
              <a:path w="9879330" h="5080">
                <a:moveTo>
                  <a:pt x="0" y="0"/>
                </a:moveTo>
                <a:lnTo>
                  <a:pt x="9879330" y="5079"/>
                </a:lnTo>
              </a:path>
            </a:pathLst>
          </a:custGeom>
          <a:ln w="50676">
            <a:solidFill>
              <a:srgbClr val="FB00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>
            <a:spLocks noGrp="1"/>
          </p:cNvSpPr>
          <p:nvPr>
            <p:ph type="title"/>
          </p:nvPr>
        </p:nvSpPr>
        <p:spPr>
          <a:xfrm>
            <a:off x="944880" y="547370"/>
            <a:ext cx="801814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Issues </a:t>
            </a:r>
            <a:r>
              <a:rPr dirty="0" sz="4000" spc="-5"/>
              <a:t>of professional</a:t>
            </a:r>
            <a:r>
              <a:rPr dirty="0" sz="4000" spc="15"/>
              <a:t> </a:t>
            </a:r>
            <a:r>
              <a:rPr dirty="0" sz="4000" spc="-5"/>
              <a:t>responsibility</a:t>
            </a:r>
            <a:endParaRPr sz="4000"/>
          </a:p>
        </p:txBody>
      </p:sp>
      <p:sp>
        <p:nvSpPr>
          <p:cNvPr id="84" name="object 8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85" name="object 8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86" name="object 8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76" name="object 76"/>
          <p:cNvSpPr txBox="1"/>
          <p:nvPr/>
        </p:nvSpPr>
        <p:spPr>
          <a:xfrm>
            <a:off x="1155700" y="178054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644650" y="1681479"/>
            <a:ext cx="3515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Intellectual property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rights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765300" y="2090420"/>
            <a:ext cx="7428230" cy="117983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92759" marR="5080" indent="-480059">
              <a:lnSpc>
                <a:spcPts val="2230"/>
              </a:lnSpc>
              <a:spcBef>
                <a:spcPts val="315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Engineers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should be aware of local laws governing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use of 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intellectual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property such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as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patents, copyright, etc. They  should be careful to ensure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that the intellectual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property of  employers and clients is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 protected.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155700" y="339217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644650" y="3294379"/>
            <a:ext cx="2413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Computer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misuse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765300" y="3702050"/>
            <a:ext cx="7538720" cy="117983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92759" marR="5080" indent="-480059">
              <a:lnSpc>
                <a:spcPts val="2230"/>
              </a:lnSpc>
              <a:spcBef>
                <a:spcPts val="315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engineers should not 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use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their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technical skills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to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misuse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other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people’s computers.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Computer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misuse ranges 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relatively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trivial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(game playing on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employer’s machine,  say)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extremely serious (dissemination of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viruses).</a:t>
            </a:r>
            <a:endParaRPr sz="20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620000" y="1781695"/>
            <a:ext cx="2286000" cy="1524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Mas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i="1">
                <a:latin typeface="Arial"/>
                <a:cs typeface="Arial"/>
              </a:rPr>
              <a:t>2018-10-01</a:t>
            </a:r>
            <a:r>
              <a:rPr dirty="0" sz="800" spc="-5" i="1">
                <a:latin typeface="Arial"/>
                <a:cs typeface="Arial"/>
              </a:rPr>
              <a:t> </a:t>
            </a:r>
            <a:r>
              <a:rPr dirty="0" sz="800" i="1">
                <a:latin typeface="Arial"/>
                <a:cs typeface="Arial"/>
              </a:rPr>
              <a:t>19:49:03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>
                <a:latin typeface="Arial"/>
                <a:cs typeface="Arial"/>
              </a:rPr>
              <a:t>--------------------------------------------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dirty="0" sz="1000">
                <a:latin typeface="Arial"/>
                <a:cs typeface="Arial"/>
              </a:rPr>
              <a:t>حقوق الملكية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الفكريه</a:t>
            </a:r>
            <a:endParaRPr sz="10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620000" y="3386759"/>
            <a:ext cx="2286000" cy="1524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Mas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i="1">
                <a:latin typeface="Arial"/>
                <a:cs typeface="Arial"/>
              </a:rPr>
              <a:t>2018-10-01</a:t>
            </a:r>
            <a:r>
              <a:rPr dirty="0" sz="800" spc="-5" i="1">
                <a:latin typeface="Arial"/>
                <a:cs typeface="Arial"/>
              </a:rPr>
              <a:t> </a:t>
            </a:r>
            <a:r>
              <a:rPr dirty="0" sz="800" i="1">
                <a:latin typeface="Arial"/>
                <a:cs typeface="Arial"/>
              </a:rPr>
              <a:t>19:50:19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>
                <a:latin typeface="Arial"/>
                <a:cs typeface="Arial"/>
              </a:rPr>
              <a:t>--------------------------------------------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dirty="0" sz="1000">
                <a:latin typeface="Arial"/>
                <a:cs typeface="Arial"/>
              </a:rPr>
              <a:t>اساءه استخدام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الكمبيوتر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dirty="0" sz="1000" spc="1695">
                <a:latin typeface="Arial"/>
                <a:cs typeface="Arial"/>
              </a:rPr>
              <a:t>
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5329" y="547370"/>
            <a:ext cx="589661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/>
              <a:t>ACM/IEEE Code of</a:t>
            </a:r>
            <a:r>
              <a:rPr dirty="0" sz="4000" spc="-45"/>
              <a:t> </a:t>
            </a:r>
            <a:r>
              <a:rPr dirty="0" sz="4000" spc="-5"/>
              <a:t>Ethics</a:t>
            </a:r>
            <a:endParaRPr sz="40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9070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259207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5700" y="339344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2550" rIns="0" bIns="0" rtlCol="0" vert="horz">
            <a:spAutoFit/>
          </a:bodyPr>
          <a:lstStyle/>
          <a:p>
            <a:pPr marL="1148715" marR="22225">
              <a:lnSpc>
                <a:spcPts val="2810"/>
              </a:lnSpc>
              <a:spcBef>
                <a:spcPts val="650"/>
              </a:spcBef>
            </a:pPr>
            <a:r>
              <a:rPr dirty="0" spc="-5"/>
              <a:t>The </a:t>
            </a:r>
            <a:r>
              <a:rPr dirty="0"/>
              <a:t>professional societies </a:t>
            </a:r>
            <a:r>
              <a:rPr dirty="0" spc="-5"/>
              <a:t>in </a:t>
            </a:r>
            <a:r>
              <a:rPr dirty="0"/>
              <a:t>the </a:t>
            </a:r>
            <a:r>
              <a:rPr dirty="0" spc="-5"/>
              <a:t>US </a:t>
            </a:r>
            <a:r>
              <a:rPr dirty="0"/>
              <a:t>have  cooperated to produce a code of </a:t>
            </a:r>
            <a:r>
              <a:rPr dirty="0" spc="-5"/>
              <a:t>ethical </a:t>
            </a:r>
            <a:r>
              <a:rPr dirty="0"/>
              <a:t>practice.</a:t>
            </a:r>
          </a:p>
          <a:p>
            <a:pPr marL="1148715" marR="423545">
              <a:lnSpc>
                <a:spcPts val="2810"/>
              </a:lnSpc>
              <a:spcBef>
                <a:spcPts val="690"/>
              </a:spcBef>
            </a:pPr>
            <a:r>
              <a:rPr dirty="0" spc="-5"/>
              <a:t>Members </a:t>
            </a:r>
            <a:r>
              <a:rPr dirty="0"/>
              <a:t>of these organisations sign up to the  code </a:t>
            </a:r>
            <a:r>
              <a:rPr dirty="0" spc="5"/>
              <a:t>of </a:t>
            </a:r>
            <a:r>
              <a:rPr dirty="0"/>
              <a:t>practice </a:t>
            </a:r>
            <a:r>
              <a:rPr dirty="0" spc="-5"/>
              <a:t>when </a:t>
            </a:r>
            <a:r>
              <a:rPr dirty="0"/>
              <a:t>they</a:t>
            </a:r>
            <a:r>
              <a:rPr dirty="0" spc="-5"/>
              <a:t> </a:t>
            </a:r>
            <a:r>
              <a:rPr dirty="0"/>
              <a:t>join.</a:t>
            </a:r>
          </a:p>
          <a:p>
            <a:pPr marL="1148715" marR="5080">
              <a:lnSpc>
                <a:spcPct val="83500"/>
              </a:lnSpc>
              <a:spcBef>
                <a:spcPts val="695"/>
              </a:spcBef>
            </a:pPr>
            <a:r>
              <a:rPr dirty="0" spc="-5"/>
              <a:t>The Code </a:t>
            </a:r>
            <a:r>
              <a:rPr dirty="0"/>
              <a:t>contains eight </a:t>
            </a:r>
            <a:r>
              <a:rPr dirty="0" spc="-5"/>
              <a:t>Principles </a:t>
            </a:r>
            <a:r>
              <a:rPr dirty="0"/>
              <a:t>related to the  behaviour </a:t>
            </a:r>
            <a:r>
              <a:rPr dirty="0" spc="-5"/>
              <a:t>of </a:t>
            </a:r>
            <a:r>
              <a:rPr dirty="0"/>
              <a:t>and decisions </a:t>
            </a:r>
            <a:r>
              <a:rPr dirty="0" spc="-5"/>
              <a:t>made </a:t>
            </a:r>
            <a:r>
              <a:rPr dirty="0"/>
              <a:t>by professional  software engineers, including practitioners,  educators, managers, supervisors and policy  makers, as </a:t>
            </a:r>
            <a:r>
              <a:rPr dirty="0" spc="-5"/>
              <a:t>well </a:t>
            </a:r>
            <a:r>
              <a:rPr dirty="0"/>
              <a:t>as </a:t>
            </a:r>
            <a:r>
              <a:rPr dirty="0" spc="-5"/>
              <a:t>trainees </a:t>
            </a:r>
            <a:r>
              <a:rPr dirty="0"/>
              <a:t>and students of the  profession.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3270" y="547370"/>
            <a:ext cx="584073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/>
              <a:t>Code of ethics </a:t>
            </a:r>
            <a:r>
              <a:rPr dirty="0" sz="4000"/>
              <a:t>-</a:t>
            </a:r>
            <a:r>
              <a:rPr dirty="0" sz="4000" spc="-30"/>
              <a:t> </a:t>
            </a:r>
            <a:r>
              <a:rPr dirty="0" sz="4000" spc="-5"/>
              <a:t>preamble</a:t>
            </a:r>
            <a:endParaRPr sz="4000"/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8054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4650" y="1681479"/>
            <a:ext cx="1329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Pr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1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65300" y="2061209"/>
            <a:ext cx="7640320" cy="3707129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492759" marR="48260" indent="-480059">
              <a:lnSpc>
                <a:spcPct val="83600"/>
              </a:lnSpc>
              <a:spcBef>
                <a:spcPts val="490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 short version of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code summarizes aspirations at a high  level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of 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abstraction;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clauses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are included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in the full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version give examples and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details of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how these aspirations  change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way we act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as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software engineering professionals.  Without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aspirations,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details 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become legalistic and 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tedious; without 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details,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aspirations can become high  sounding but empty;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together, 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aspirations and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details  form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 cohesive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code.</a:t>
            </a:r>
            <a:endParaRPr sz="2000">
              <a:latin typeface="Arial"/>
              <a:cs typeface="Arial"/>
            </a:endParaRPr>
          </a:p>
          <a:p>
            <a:pPr marL="492759" marR="5080" indent="-480059">
              <a:lnSpc>
                <a:spcPct val="83600"/>
              </a:lnSpc>
              <a:spcBef>
                <a:spcPts val="505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engineers shall commit themselves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making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analysis, specification, design, development,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testing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  maintenance of software a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beneficial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 respected profession. 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accordance with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their commitment to 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health,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safety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  welfare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of 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public, software engineers shall adhere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to the  following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Eight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Principles: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9300" y="547370"/>
            <a:ext cx="587121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0"/>
              <a:t>Code </a:t>
            </a:r>
            <a:r>
              <a:rPr dirty="0" sz="4000" spc="-5"/>
              <a:t>of ethics </a:t>
            </a:r>
            <a:r>
              <a:rPr dirty="0" sz="4000"/>
              <a:t>-</a:t>
            </a:r>
            <a:r>
              <a:rPr dirty="0" sz="4000" spc="15"/>
              <a:t> </a:t>
            </a:r>
            <a:r>
              <a:rPr dirty="0" sz="4000" spc="-5"/>
              <a:t>principles</a:t>
            </a:r>
            <a:endParaRPr sz="4000"/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8054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4650" y="1681479"/>
            <a:ext cx="1125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BL</a:t>
            </a:r>
            <a:r>
              <a:rPr dirty="0" sz="2400" spc="1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65300" y="2090420"/>
            <a:ext cx="6787515" cy="61341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92759" marR="5080" indent="-480059">
              <a:lnSpc>
                <a:spcPts val="2230"/>
              </a:lnSpc>
              <a:spcBef>
                <a:spcPts val="315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engineers shall act consistently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with the public  interest.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5700" y="282575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4650" y="2727959"/>
            <a:ext cx="36131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CLIENT AND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EMPLOYER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65300" y="3135629"/>
            <a:ext cx="7493634" cy="896619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92759" marR="5080" indent="-480059">
              <a:lnSpc>
                <a:spcPts val="2230"/>
              </a:lnSpc>
              <a:spcBef>
                <a:spcPts val="315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engineers shall act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 manner that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is in 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best 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interests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their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client and employer consistent with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public 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interest.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5700" y="415544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44650" y="4056379"/>
            <a:ext cx="1530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dirty="0" sz="2400" spc="-15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65300" y="4465320"/>
            <a:ext cx="7654290" cy="61341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92759" marR="5080" indent="-480059">
              <a:lnSpc>
                <a:spcPts val="2230"/>
              </a:lnSpc>
              <a:spcBef>
                <a:spcPts val="315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engineers shall ensure that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their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products and related 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modifications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meet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highest professional standards possible.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9300" y="547370"/>
            <a:ext cx="587121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0"/>
              <a:t>Code </a:t>
            </a:r>
            <a:r>
              <a:rPr dirty="0" sz="4000" spc="-5"/>
              <a:t>of ethics </a:t>
            </a:r>
            <a:r>
              <a:rPr dirty="0" sz="4000"/>
              <a:t>-</a:t>
            </a:r>
            <a:r>
              <a:rPr dirty="0" sz="4000" spc="15"/>
              <a:t> </a:t>
            </a:r>
            <a:r>
              <a:rPr dirty="0" sz="4000" spc="-5"/>
              <a:t>principles</a:t>
            </a:r>
            <a:endParaRPr sz="4000"/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8054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4650" y="1681479"/>
            <a:ext cx="1718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JUDGMENT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65300" y="2090420"/>
            <a:ext cx="7454265" cy="61341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92759" marR="5080" indent="-480059">
              <a:lnSpc>
                <a:spcPts val="2230"/>
              </a:lnSpc>
              <a:spcBef>
                <a:spcPts val="315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engineers shall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maintain integrity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 independence 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in their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professional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judgment.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5700" y="282575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4650" y="2727959"/>
            <a:ext cx="22091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65300" y="3135629"/>
            <a:ext cx="7555865" cy="896619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92759" marR="5080" indent="-480059">
              <a:lnSpc>
                <a:spcPts val="2230"/>
              </a:lnSpc>
              <a:spcBef>
                <a:spcPts val="315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engineering managers and leaders shall subscribe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to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promote an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ethical approach to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management of 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development and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maintenance.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5700" y="4155440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44650" y="4056379"/>
            <a:ext cx="20231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PROFESSION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65300" y="4465320"/>
            <a:ext cx="7411084" cy="61341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92759" marR="5080" indent="-480059">
              <a:lnSpc>
                <a:spcPts val="2230"/>
              </a:lnSpc>
              <a:spcBef>
                <a:spcPts val="315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engineers shall advance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the integrity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reputation  of 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profession consistent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with the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public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interest.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9300" y="547370"/>
            <a:ext cx="587121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0"/>
              <a:t>Code </a:t>
            </a:r>
            <a:r>
              <a:rPr dirty="0" sz="4000" spc="-5"/>
              <a:t>of ethics </a:t>
            </a:r>
            <a:r>
              <a:rPr dirty="0" sz="4000"/>
              <a:t>-</a:t>
            </a:r>
            <a:r>
              <a:rPr dirty="0" sz="4000" spc="15"/>
              <a:t> </a:t>
            </a:r>
            <a:r>
              <a:rPr dirty="0" sz="4000" spc="-5"/>
              <a:t>principles</a:t>
            </a:r>
            <a:endParaRPr sz="4000"/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9070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4650" y="1676400"/>
            <a:ext cx="243141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solidFill>
                  <a:srgbClr val="FFFFFF"/>
                </a:solidFill>
                <a:latin typeface="Arial"/>
                <a:cs typeface="Arial"/>
              </a:rPr>
              <a:t>COLLEAGUES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65300" y="2153920"/>
            <a:ext cx="7533005" cy="73152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492759" marR="5080" indent="-480059">
              <a:lnSpc>
                <a:spcPts val="2680"/>
              </a:lnSpc>
              <a:spcBef>
                <a:spcPts val="355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engineers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shall be fair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and supportive of  their</a:t>
            </a:r>
            <a:r>
              <a:rPr dirty="0" sz="24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colleagues.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5700" y="303149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4650" y="2917190"/>
            <a:ext cx="9131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LF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65300" y="3394709"/>
            <a:ext cx="7670800" cy="141097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492759" marR="5080" indent="-480059">
              <a:lnSpc>
                <a:spcPct val="92900"/>
              </a:lnSpc>
              <a:spcBef>
                <a:spcPts val="305"/>
              </a:spcBef>
              <a:buChar char="•"/>
              <a:tabLst>
                <a:tab pos="492125" algn="l"/>
                <a:tab pos="492759" algn="l"/>
              </a:tabLst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engineers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shall participate in lifelong 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learning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regarding the practice of their profession 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shall promote an ethical approach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to the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practice  of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profession.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2600" y="547370"/>
            <a:ext cx="3862704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/>
              <a:t>Ethical</a:t>
            </a:r>
            <a:r>
              <a:rPr dirty="0" sz="4000" spc="-65"/>
              <a:t> </a:t>
            </a:r>
            <a:r>
              <a:rPr dirty="0" sz="4000" spc="-5"/>
              <a:t>dilemmas</a:t>
            </a:r>
            <a:endParaRPr sz="4000"/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©Ian Sommerville</a:t>
            </a:r>
            <a:r>
              <a:rPr dirty="0" spc="-80"/>
              <a:t> </a:t>
            </a:r>
            <a:r>
              <a:rPr dirty="0"/>
              <a:t>2004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Software Engineering, 7th edition. Chapter</a:t>
            </a:r>
            <a:r>
              <a:rPr dirty="0" spc="-40"/>
              <a:t> </a:t>
            </a:r>
            <a:r>
              <a:rPr dirty="0"/>
              <a:t>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pc="-5"/>
              <a:t>Slide</a:t>
            </a:r>
            <a:r>
              <a:rPr dirty="0" spc="260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55700" y="179070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2672079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5700" y="3949700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Wingdings"/>
                <a:cs typeface="Wingdings"/>
              </a:rPr>
              <a:t></a:t>
            </a:r>
            <a:endParaRPr sz="140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1435" rIns="0" bIns="0" rtlCol="0" vert="horz">
            <a:spAutoFit/>
          </a:bodyPr>
          <a:lstStyle/>
          <a:p>
            <a:pPr marL="1148715" marR="661670">
              <a:lnSpc>
                <a:spcPts val="3120"/>
              </a:lnSpc>
              <a:spcBef>
                <a:spcPts val="405"/>
              </a:spcBef>
            </a:pPr>
            <a:r>
              <a:rPr dirty="0" spc="-5"/>
              <a:t>Disagreement in </a:t>
            </a:r>
            <a:r>
              <a:rPr dirty="0"/>
              <a:t>principle </a:t>
            </a:r>
            <a:r>
              <a:rPr dirty="0" spc="-5"/>
              <a:t>with </a:t>
            </a:r>
            <a:r>
              <a:rPr dirty="0"/>
              <a:t>the policies </a:t>
            </a:r>
            <a:r>
              <a:rPr dirty="0" spc="-5"/>
              <a:t>of  </a:t>
            </a:r>
            <a:r>
              <a:rPr dirty="0"/>
              <a:t>senior</a:t>
            </a:r>
            <a:r>
              <a:rPr dirty="0" spc="5"/>
              <a:t> </a:t>
            </a:r>
            <a:r>
              <a:rPr dirty="0" spc="-5"/>
              <a:t>management.</a:t>
            </a:r>
          </a:p>
          <a:p>
            <a:pPr marL="1148715" marR="5080">
              <a:lnSpc>
                <a:spcPts val="3120"/>
              </a:lnSpc>
              <a:spcBef>
                <a:spcPts val="695"/>
              </a:spcBef>
            </a:pPr>
            <a:r>
              <a:rPr dirty="0" spc="-5"/>
              <a:t>Your employer </a:t>
            </a:r>
            <a:r>
              <a:rPr dirty="0"/>
              <a:t>acts </a:t>
            </a:r>
            <a:r>
              <a:rPr dirty="0" spc="-5"/>
              <a:t>in </a:t>
            </a:r>
            <a:r>
              <a:rPr dirty="0"/>
              <a:t>an unethical </a:t>
            </a:r>
            <a:r>
              <a:rPr dirty="0" spc="-5"/>
              <a:t>way </a:t>
            </a:r>
            <a:r>
              <a:rPr dirty="0"/>
              <a:t>and  releases a safety-critical system </a:t>
            </a:r>
            <a:r>
              <a:rPr dirty="0" spc="-5"/>
              <a:t>without finishing  </a:t>
            </a:r>
            <a:r>
              <a:rPr dirty="0"/>
              <a:t>the testing of the</a:t>
            </a:r>
            <a:r>
              <a:rPr dirty="0" spc="10"/>
              <a:t> </a:t>
            </a:r>
            <a:r>
              <a:rPr dirty="0"/>
              <a:t>system.</a:t>
            </a:r>
          </a:p>
          <a:p>
            <a:pPr marL="1148715" marR="997585">
              <a:lnSpc>
                <a:spcPts val="3120"/>
              </a:lnSpc>
              <a:spcBef>
                <a:spcPts val="705"/>
              </a:spcBef>
            </a:pPr>
            <a:r>
              <a:rPr dirty="0" spc="-5"/>
              <a:t>Participation </a:t>
            </a:r>
            <a:r>
              <a:rPr dirty="0"/>
              <a:t>in the </a:t>
            </a:r>
            <a:r>
              <a:rPr dirty="0" spc="-5"/>
              <a:t>development </a:t>
            </a:r>
            <a:r>
              <a:rPr dirty="0"/>
              <a:t>of </a:t>
            </a:r>
            <a:r>
              <a:rPr dirty="0" spc="-5"/>
              <a:t>military  weapons </a:t>
            </a:r>
            <a:r>
              <a:rPr dirty="0"/>
              <a:t>systems </a:t>
            </a:r>
            <a:r>
              <a:rPr dirty="0" spc="5"/>
              <a:t>or </a:t>
            </a:r>
            <a:r>
              <a:rPr dirty="0"/>
              <a:t>nuclear</a:t>
            </a:r>
            <a:r>
              <a:rPr dirty="0" spc="-15"/>
              <a:t> </a:t>
            </a:r>
            <a:r>
              <a:rPr dirty="0"/>
              <a:t>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</dc:title>
  <dcterms:created xsi:type="dcterms:W3CDTF">2020-10-24T20:04:04Z</dcterms:created>
  <dcterms:modified xsi:type="dcterms:W3CDTF">2020-10-24T20:04:04Z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2010-04-16T00:00:00Z</vt:filetime>
  </property>
  <property fmtid="{D5CDD505-2E9C-101B-9397-08002B2CF9AE}" pid="3" name="Creator">
    <vt:lpwstr>Impress</vt:lpwstr>
  </property>
  <property fmtid="{D5CDD505-2E9C-101B-9397-08002B2CF9AE}" pid="4" name="LastSaved">
    <vt:filetime>2020-10-24T00:00:00Z</vt:filetime>
  </property>
</Properties>
</file>